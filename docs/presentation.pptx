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Nourd Bold" charset="1" panose="00000800000000000000"/>
      <p:regular r:id="rId16"/>
    </p:embeddedFont>
    <p:embeddedFont>
      <p:font typeface="Nourd" charset="1" panose="000005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16" Target="../media/image19.png" Type="http://schemas.openxmlformats.org/officeDocument/2006/relationships/image"/><Relationship Id="rId17" Target="../media/image2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2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22.png" Type="http://schemas.openxmlformats.org/officeDocument/2006/relationships/image"/><Relationship Id="rId15" Target="../media/image2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24.png" Type="http://schemas.openxmlformats.org/officeDocument/2006/relationships/image"/><Relationship Id="rId15" Target="../media/image25.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2899298" y="3525547"/>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2899298" y="691905"/>
            <a:ext cx="8410133" cy="4205067"/>
          </a:xfrm>
          <a:custGeom>
            <a:avLst/>
            <a:gdLst/>
            <a:ahLst/>
            <a:cxnLst/>
            <a:rect r="r" b="b" t="t" l="l"/>
            <a:pathLst>
              <a:path h="4205067" w="8410133">
                <a:moveTo>
                  <a:pt x="0" y="0"/>
                </a:moveTo>
                <a:lnTo>
                  <a:pt x="8410133" y="0"/>
                </a:lnTo>
                <a:lnTo>
                  <a:pt x="8410133" y="4205066"/>
                </a:lnTo>
                <a:lnTo>
                  <a:pt x="0" y="42050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3207383" y="3257544"/>
            <a:ext cx="8410133" cy="4205067"/>
          </a:xfrm>
          <a:custGeom>
            <a:avLst/>
            <a:gdLst/>
            <a:ahLst/>
            <a:cxnLst/>
            <a:rect r="r" b="b" t="t" l="l"/>
            <a:pathLst>
              <a:path h="4205067" w="8410133">
                <a:moveTo>
                  <a:pt x="0" y="0"/>
                </a:moveTo>
                <a:lnTo>
                  <a:pt x="8410133" y="0"/>
                </a:lnTo>
                <a:lnTo>
                  <a:pt x="8410133" y="4205066"/>
                </a:lnTo>
                <a:lnTo>
                  <a:pt x="0" y="42050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5400000">
            <a:off x="13207383" y="423901"/>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6286586" y="6781806"/>
            <a:ext cx="1883948" cy="1883948"/>
          </a:xfrm>
          <a:custGeom>
            <a:avLst/>
            <a:gdLst/>
            <a:ahLst/>
            <a:cxnLst/>
            <a:rect r="r" b="b" t="t" l="l"/>
            <a:pathLst>
              <a:path h="1883948" w="1883948">
                <a:moveTo>
                  <a:pt x="0" y="0"/>
                </a:moveTo>
                <a:lnTo>
                  <a:pt x="1883948" y="0"/>
                </a:lnTo>
                <a:lnTo>
                  <a:pt x="1883948" y="1883948"/>
                </a:lnTo>
                <a:lnTo>
                  <a:pt x="0" y="18839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5400000">
            <a:off x="14916506" y="7463077"/>
            <a:ext cx="1202677" cy="1202677"/>
          </a:xfrm>
          <a:custGeom>
            <a:avLst/>
            <a:gdLst/>
            <a:ahLst/>
            <a:cxnLst/>
            <a:rect r="r" b="b" t="t" l="l"/>
            <a:pathLst>
              <a:path h="1202677" w="1202677">
                <a:moveTo>
                  <a:pt x="0" y="0"/>
                </a:moveTo>
                <a:lnTo>
                  <a:pt x="1202677" y="0"/>
                </a:lnTo>
                <a:lnTo>
                  <a:pt x="1202677" y="1202677"/>
                </a:lnTo>
                <a:lnTo>
                  <a:pt x="0" y="12026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4982020" y="8782634"/>
            <a:ext cx="1168661" cy="1168661"/>
          </a:xfrm>
          <a:custGeom>
            <a:avLst/>
            <a:gdLst/>
            <a:ahLst/>
            <a:cxnLst/>
            <a:rect r="r" b="b" t="t" l="l"/>
            <a:pathLst>
              <a:path h="1168661" w="1168661">
                <a:moveTo>
                  <a:pt x="0" y="0"/>
                </a:moveTo>
                <a:lnTo>
                  <a:pt x="1168660" y="0"/>
                </a:lnTo>
                <a:lnTo>
                  <a:pt x="1168660" y="1168660"/>
                </a:lnTo>
                <a:lnTo>
                  <a:pt x="0" y="11686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5305806">
            <a:off x="16260396" y="8808116"/>
            <a:ext cx="1886072" cy="1886072"/>
          </a:xfrm>
          <a:custGeom>
            <a:avLst/>
            <a:gdLst/>
            <a:ahLst/>
            <a:cxnLst/>
            <a:rect r="r" b="b" t="t" l="l"/>
            <a:pathLst>
              <a:path h="1886072" w="1886072">
                <a:moveTo>
                  <a:pt x="0" y="0"/>
                </a:moveTo>
                <a:lnTo>
                  <a:pt x="1886072" y="0"/>
                </a:lnTo>
                <a:lnTo>
                  <a:pt x="1886072" y="1886071"/>
                </a:lnTo>
                <a:lnTo>
                  <a:pt x="0" y="188607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true" flipV="false" rot="0">
            <a:off x="9304461" y="9833148"/>
            <a:ext cx="7334017" cy="3667009"/>
          </a:xfrm>
          <a:custGeom>
            <a:avLst/>
            <a:gdLst/>
            <a:ahLst/>
            <a:cxnLst/>
            <a:rect r="r" b="b" t="t" l="l"/>
            <a:pathLst>
              <a:path h="3667009" w="7334017">
                <a:moveTo>
                  <a:pt x="7334017" y="0"/>
                </a:moveTo>
                <a:lnTo>
                  <a:pt x="0" y="0"/>
                </a:lnTo>
                <a:lnTo>
                  <a:pt x="0" y="3667008"/>
                </a:lnTo>
                <a:lnTo>
                  <a:pt x="7334017" y="3667008"/>
                </a:lnTo>
                <a:lnTo>
                  <a:pt x="733401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5400000">
            <a:off x="-4093503" y="3864916"/>
            <a:ext cx="9882557" cy="2053905"/>
          </a:xfrm>
          <a:custGeom>
            <a:avLst/>
            <a:gdLst/>
            <a:ahLst/>
            <a:cxnLst/>
            <a:rect r="r" b="b" t="t" l="l"/>
            <a:pathLst>
              <a:path h="2053905" w="9882557">
                <a:moveTo>
                  <a:pt x="0" y="0"/>
                </a:moveTo>
                <a:lnTo>
                  <a:pt x="9882557" y="0"/>
                </a:lnTo>
                <a:lnTo>
                  <a:pt x="9882557" y="2053905"/>
                </a:lnTo>
                <a:lnTo>
                  <a:pt x="0" y="2053905"/>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10800000">
            <a:off x="-7844165" y="-233439"/>
            <a:ext cx="10520439" cy="10520439"/>
          </a:xfrm>
          <a:custGeom>
            <a:avLst/>
            <a:gdLst/>
            <a:ahLst/>
            <a:cxnLst/>
            <a:rect r="r" b="b" t="t" l="l"/>
            <a:pathLst>
              <a:path h="10520439" w="10520439">
                <a:moveTo>
                  <a:pt x="0" y="0"/>
                </a:moveTo>
                <a:lnTo>
                  <a:pt x="10520440" y="0"/>
                </a:lnTo>
                <a:lnTo>
                  <a:pt x="10520440" y="10520439"/>
                </a:lnTo>
                <a:lnTo>
                  <a:pt x="0" y="1052043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3" id="13"/>
          <p:cNvGrpSpPr/>
          <p:nvPr/>
        </p:nvGrpSpPr>
        <p:grpSpPr>
          <a:xfrm rot="0">
            <a:off x="-1581722" y="9833148"/>
            <a:ext cx="10923063" cy="684975"/>
            <a:chOff x="0" y="0"/>
            <a:chExt cx="2891335" cy="181313"/>
          </a:xfrm>
        </p:grpSpPr>
        <p:sp>
          <p:nvSpPr>
            <p:cNvPr name="Freeform 14" id="14"/>
            <p:cNvSpPr/>
            <p:nvPr/>
          </p:nvSpPr>
          <p:spPr>
            <a:xfrm flipH="false" flipV="false" rot="0">
              <a:off x="0" y="0"/>
              <a:ext cx="2891335" cy="181313"/>
            </a:xfrm>
            <a:custGeom>
              <a:avLst/>
              <a:gdLst/>
              <a:ahLst/>
              <a:cxnLst/>
              <a:rect r="r" b="b" t="t" l="l"/>
              <a:pathLst>
                <a:path h="181313" w="2891335">
                  <a:moveTo>
                    <a:pt x="0" y="0"/>
                  </a:moveTo>
                  <a:lnTo>
                    <a:pt x="2891335" y="0"/>
                  </a:lnTo>
                  <a:lnTo>
                    <a:pt x="2891335" y="181313"/>
                  </a:lnTo>
                  <a:lnTo>
                    <a:pt x="0" y="181313"/>
                  </a:lnTo>
                  <a:close/>
                </a:path>
              </a:pathLst>
            </a:custGeom>
            <a:solidFill>
              <a:srgbClr val="04223C"/>
            </a:solidFill>
          </p:spPr>
        </p:sp>
        <p:sp>
          <p:nvSpPr>
            <p:cNvPr name="TextBox 15" id="15"/>
            <p:cNvSpPr txBox="true"/>
            <p:nvPr/>
          </p:nvSpPr>
          <p:spPr>
            <a:xfrm>
              <a:off x="0" y="-38100"/>
              <a:ext cx="2891335" cy="219413"/>
            </a:xfrm>
            <a:prstGeom prst="rect">
              <a:avLst/>
            </a:prstGeom>
          </p:spPr>
          <p:txBody>
            <a:bodyPr anchor="ctr" rtlCol="false" tIns="48876" lIns="48876" bIns="48876" rIns="48876"/>
            <a:lstStyle/>
            <a:p>
              <a:pPr algn="ctr">
                <a:lnSpc>
                  <a:spcPts val="2078"/>
                </a:lnSpc>
              </a:pPr>
            </a:p>
          </p:txBody>
        </p:sp>
      </p:grpSp>
      <p:sp>
        <p:nvSpPr>
          <p:cNvPr name="TextBox 16" id="16"/>
          <p:cNvSpPr txBox="true"/>
          <p:nvPr/>
        </p:nvSpPr>
        <p:spPr>
          <a:xfrm rot="0">
            <a:off x="2170953" y="3652984"/>
            <a:ext cx="11425142" cy="2216658"/>
          </a:xfrm>
          <a:prstGeom prst="rect">
            <a:avLst/>
          </a:prstGeom>
        </p:spPr>
        <p:txBody>
          <a:bodyPr anchor="t" rtlCol="false" tIns="0" lIns="0" bIns="0" rIns="0">
            <a:spAutoFit/>
          </a:bodyPr>
          <a:lstStyle/>
          <a:p>
            <a:pPr algn="l">
              <a:lnSpc>
                <a:spcPts val="5856"/>
              </a:lnSpc>
            </a:pPr>
            <a:r>
              <a:rPr lang="en-US" sz="4800" b="true">
                <a:solidFill>
                  <a:srgbClr val="40A8CD"/>
                </a:solidFill>
                <a:latin typeface="Nourd Bold"/>
                <a:ea typeface="Nourd Bold"/>
                <a:cs typeface="Nourd Bold"/>
                <a:sym typeface="Nourd Bold"/>
              </a:rPr>
              <a:t>Analysis of Antivirus Resilience and Efficiency Against Crypto Ransomware Attacks</a:t>
            </a:r>
          </a:p>
        </p:txBody>
      </p:sp>
      <p:sp>
        <p:nvSpPr>
          <p:cNvPr name="TextBox 17" id="17"/>
          <p:cNvSpPr txBox="true"/>
          <p:nvPr/>
        </p:nvSpPr>
        <p:spPr>
          <a:xfrm rot="0">
            <a:off x="2170953" y="6380543"/>
            <a:ext cx="9033256" cy="2491740"/>
          </a:xfrm>
          <a:prstGeom prst="rect">
            <a:avLst/>
          </a:prstGeom>
        </p:spPr>
        <p:txBody>
          <a:bodyPr anchor="t" rtlCol="false" tIns="0" lIns="0" bIns="0" rIns="0">
            <a:spAutoFit/>
          </a:bodyPr>
          <a:lstStyle/>
          <a:p>
            <a:pPr algn="l">
              <a:lnSpc>
                <a:spcPts val="3360"/>
              </a:lnSpc>
            </a:pPr>
            <a:r>
              <a:rPr lang="en-US" sz="2400">
                <a:solidFill>
                  <a:srgbClr val="04223C"/>
                </a:solidFill>
                <a:latin typeface="Nourd"/>
                <a:ea typeface="Nourd"/>
                <a:cs typeface="Nourd"/>
                <a:sym typeface="Nourd"/>
              </a:rPr>
              <a:t>Authors:</a:t>
            </a:r>
          </a:p>
          <a:p>
            <a:pPr algn="l" marL="518160" indent="-259080" lvl="1">
              <a:lnSpc>
                <a:spcPts val="3360"/>
              </a:lnSpc>
              <a:buFont typeface="Arial"/>
              <a:buChar char="•"/>
            </a:pPr>
            <a:r>
              <a:rPr lang="en-US" sz="2400">
                <a:solidFill>
                  <a:srgbClr val="04223C"/>
                </a:solidFill>
                <a:latin typeface="Nourd"/>
                <a:ea typeface="Nourd"/>
                <a:cs typeface="Nourd"/>
                <a:sym typeface="Nourd"/>
              </a:rPr>
              <a:t>Frankie Huang</a:t>
            </a:r>
          </a:p>
          <a:p>
            <a:pPr algn="l" marL="518160" indent="-259080" lvl="1">
              <a:lnSpc>
                <a:spcPts val="3360"/>
              </a:lnSpc>
              <a:buFont typeface="Arial"/>
              <a:buChar char="•"/>
            </a:pPr>
            <a:r>
              <a:rPr lang="en-US" sz="2400">
                <a:solidFill>
                  <a:srgbClr val="04223C"/>
                </a:solidFill>
                <a:latin typeface="Nourd"/>
                <a:ea typeface="Nourd"/>
                <a:cs typeface="Nourd"/>
                <a:sym typeface="Nourd"/>
              </a:rPr>
              <a:t>Muhammad Haidar Akita Tresnadi</a:t>
            </a:r>
          </a:p>
          <a:p>
            <a:pPr algn="l" marL="518160" indent="-259080" lvl="1">
              <a:lnSpc>
                <a:spcPts val="3360"/>
              </a:lnSpc>
              <a:buFont typeface="Arial"/>
              <a:buChar char="•"/>
            </a:pPr>
            <a:r>
              <a:rPr lang="en-US" sz="2400">
                <a:solidFill>
                  <a:srgbClr val="04223C"/>
                </a:solidFill>
                <a:latin typeface="Nourd"/>
                <a:ea typeface="Nourd"/>
                <a:cs typeface="Nourd"/>
                <a:sym typeface="Nourd"/>
              </a:rPr>
              <a:t>Moch. Sofyan Firdaus</a:t>
            </a:r>
          </a:p>
          <a:p>
            <a:pPr algn="l" marL="518160" indent="-259080" lvl="1">
              <a:lnSpc>
                <a:spcPts val="3360"/>
              </a:lnSpc>
              <a:buFont typeface="Arial"/>
              <a:buChar char="•"/>
            </a:pPr>
            <a:r>
              <a:rPr lang="en-US" sz="2400">
                <a:solidFill>
                  <a:srgbClr val="04223C"/>
                </a:solidFill>
                <a:latin typeface="Nourd"/>
                <a:ea typeface="Nourd"/>
                <a:cs typeface="Nourd"/>
                <a:sym typeface="Nourd"/>
              </a:rPr>
              <a:t>Robithoh Annur</a:t>
            </a:r>
          </a:p>
          <a:p>
            <a:pPr algn="l" marL="518160" indent="-259080" lvl="1">
              <a:lnSpc>
                <a:spcPts val="3360"/>
              </a:lnSpc>
              <a:buFont typeface="Arial"/>
              <a:buChar char="•"/>
            </a:pPr>
            <a:r>
              <a:rPr lang="en-US" sz="2400">
                <a:solidFill>
                  <a:srgbClr val="04223C"/>
                </a:solidFill>
                <a:latin typeface="Nourd"/>
                <a:ea typeface="Nourd"/>
                <a:cs typeface="Nourd"/>
                <a:sym typeface="Nourd"/>
              </a:rPr>
              <a:t>Suhardi</a:t>
            </a:r>
          </a:p>
        </p:txBody>
      </p:sp>
      <p:sp>
        <p:nvSpPr>
          <p:cNvPr name="TextBox 18" id="18"/>
          <p:cNvSpPr txBox="true"/>
          <p:nvPr/>
        </p:nvSpPr>
        <p:spPr>
          <a:xfrm rot="0">
            <a:off x="2170953" y="1817895"/>
            <a:ext cx="9033256" cy="1090295"/>
          </a:xfrm>
          <a:prstGeom prst="rect">
            <a:avLst/>
          </a:prstGeom>
        </p:spPr>
        <p:txBody>
          <a:bodyPr anchor="t" rtlCol="false" tIns="0" lIns="0" bIns="0" rIns="0">
            <a:spAutoFit/>
          </a:bodyPr>
          <a:lstStyle/>
          <a:p>
            <a:pPr algn="l">
              <a:lnSpc>
                <a:spcPts val="4480"/>
              </a:lnSpc>
            </a:pPr>
            <a:r>
              <a:rPr lang="en-US" sz="3200">
                <a:solidFill>
                  <a:srgbClr val="04223C"/>
                </a:solidFill>
                <a:latin typeface="Nourd"/>
                <a:ea typeface="Nourd"/>
                <a:cs typeface="Nourd"/>
                <a:sym typeface="Nourd"/>
              </a:rPr>
              <a:t>2025 IEEE International Conference on Data and Software Engineering (ICoDSE)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3451814" y="2646567"/>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3451814" y="5480210"/>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3759899" y="2914571"/>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5400000">
            <a:off x="-3759899" y="5748214"/>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0800000">
            <a:off x="-312917" y="1711428"/>
            <a:ext cx="1883948" cy="1883948"/>
          </a:xfrm>
          <a:custGeom>
            <a:avLst/>
            <a:gdLst/>
            <a:ahLst/>
            <a:cxnLst/>
            <a:rect r="r" b="b" t="t" l="l"/>
            <a:pathLst>
              <a:path h="1883948" w="1883948">
                <a:moveTo>
                  <a:pt x="0" y="0"/>
                </a:moveTo>
                <a:lnTo>
                  <a:pt x="1883948" y="0"/>
                </a:lnTo>
                <a:lnTo>
                  <a:pt x="1883948" y="1883948"/>
                </a:lnTo>
                <a:lnTo>
                  <a:pt x="0" y="18839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5400000">
            <a:off x="1738434" y="1711428"/>
            <a:ext cx="1202677" cy="1202677"/>
          </a:xfrm>
          <a:custGeom>
            <a:avLst/>
            <a:gdLst/>
            <a:ahLst/>
            <a:cxnLst/>
            <a:rect r="r" b="b" t="t" l="l"/>
            <a:pathLst>
              <a:path h="1202677" w="1202677">
                <a:moveTo>
                  <a:pt x="0" y="0"/>
                </a:moveTo>
                <a:lnTo>
                  <a:pt x="1202676" y="0"/>
                </a:lnTo>
                <a:lnTo>
                  <a:pt x="1202676" y="1202677"/>
                </a:lnTo>
                <a:lnTo>
                  <a:pt x="0" y="12026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10800000">
            <a:off x="1706937" y="425887"/>
            <a:ext cx="1168661" cy="1168661"/>
          </a:xfrm>
          <a:custGeom>
            <a:avLst/>
            <a:gdLst/>
            <a:ahLst/>
            <a:cxnLst/>
            <a:rect r="r" b="b" t="t" l="l"/>
            <a:pathLst>
              <a:path h="1168661" w="1168661">
                <a:moveTo>
                  <a:pt x="0" y="0"/>
                </a:moveTo>
                <a:lnTo>
                  <a:pt x="1168660" y="0"/>
                </a:lnTo>
                <a:lnTo>
                  <a:pt x="1168660" y="1168661"/>
                </a:lnTo>
                <a:lnTo>
                  <a:pt x="0" y="11686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5494193">
            <a:off x="-288851" y="-317006"/>
            <a:ext cx="1886072" cy="1886072"/>
          </a:xfrm>
          <a:custGeom>
            <a:avLst/>
            <a:gdLst/>
            <a:ahLst/>
            <a:cxnLst/>
            <a:rect r="r" b="b" t="t" l="l"/>
            <a:pathLst>
              <a:path h="1886072" w="1886072">
                <a:moveTo>
                  <a:pt x="0" y="0"/>
                </a:moveTo>
                <a:lnTo>
                  <a:pt x="1886071" y="0"/>
                </a:lnTo>
                <a:lnTo>
                  <a:pt x="1886071" y="1886072"/>
                </a:lnTo>
                <a:lnTo>
                  <a:pt x="0" y="18860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10800000">
            <a:off x="2875597" y="9336132"/>
            <a:ext cx="4888040" cy="1015888"/>
          </a:xfrm>
          <a:custGeom>
            <a:avLst/>
            <a:gdLst/>
            <a:ahLst/>
            <a:cxnLst/>
            <a:rect r="r" b="b" t="t" l="l"/>
            <a:pathLst>
              <a:path h="1015888" w="4888040">
                <a:moveTo>
                  <a:pt x="0" y="0"/>
                </a:moveTo>
                <a:lnTo>
                  <a:pt x="4888041" y="0"/>
                </a:lnTo>
                <a:lnTo>
                  <a:pt x="4888041"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10800000">
            <a:off x="7782688" y="9337492"/>
            <a:ext cx="4888040" cy="1015888"/>
          </a:xfrm>
          <a:custGeom>
            <a:avLst/>
            <a:gdLst/>
            <a:ahLst/>
            <a:cxnLst/>
            <a:rect r="r" b="b" t="t" l="l"/>
            <a:pathLst>
              <a:path h="1015888" w="4888040">
                <a:moveTo>
                  <a:pt x="0" y="0"/>
                </a:moveTo>
                <a:lnTo>
                  <a:pt x="4888040" y="0"/>
                </a:lnTo>
                <a:lnTo>
                  <a:pt x="4888040"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10800000">
            <a:off x="12689778" y="9338853"/>
            <a:ext cx="4888040" cy="1015888"/>
          </a:xfrm>
          <a:custGeom>
            <a:avLst/>
            <a:gdLst/>
            <a:ahLst/>
            <a:cxnLst/>
            <a:rect r="r" b="b" t="t" l="l"/>
            <a:pathLst>
              <a:path h="1015888" w="4888040">
                <a:moveTo>
                  <a:pt x="0" y="0"/>
                </a:moveTo>
                <a:lnTo>
                  <a:pt x="4888040" y="0"/>
                </a:lnTo>
                <a:lnTo>
                  <a:pt x="4888040"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grpSp>
        <p:nvGrpSpPr>
          <p:cNvPr name="Group 13" id="13"/>
          <p:cNvGrpSpPr/>
          <p:nvPr/>
        </p:nvGrpSpPr>
        <p:grpSpPr>
          <a:xfrm rot="0">
            <a:off x="2875597" y="9127948"/>
            <a:ext cx="15731854" cy="1880081"/>
            <a:chOff x="0" y="0"/>
            <a:chExt cx="4143369" cy="495165"/>
          </a:xfrm>
        </p:grpSpPr>
        <p:sp>
          <p:nvSpPr>
            <p:cNvPr name="Freeform 14" id="14"/>
            <p:cNvSpPr/>
            <p:nvPr/>
          </p:nvSpPr>
          <p:spPr>
            <a:xfrm flipH="false" flipV="false" rot="0">
              <a:off x="0" y="0"/>
              <a:ext cx="4143369" cy="495165"/>
            </a:xfrm>
            <a:custGeom>
              <a:avLst/>
              <a:gdLst/>
              <a:ahLst/>
              <a:cxnLst/>
              <a:rect r="r" b="b" t="t" l="l"/>
              <a:pathLst>
                <a:path h="495165" w="4143369">
                  <a:moveTo>
                    <a:pt x="0" y="0"/>
                  </a:moveTo>
                  <a:lnTo>
                    <a:pt x="4143369" y="0"/>
                  </a:lnTo>
                  <a:lnTo>
                    <a:pt x="4143369" y="495165"/>
                  </a:lnTo>
                  <a:lnTo>
                    <a:pt x="0" y="495165"/>
                  </a:lnTo>
                  <a:close/>
                </a:path>
              </a:pathLst>
            </a:custGeom>
            <a:gradFill rotWithShape="true">
              <a:gsLst>
                <a:gs pos="0">
                  <a:srgbClr val="FFFFFF">
                    <a:alpha val="100000"/>
                  </a:srgbClr>
                </a:gs>
                <a:gs pos="33333">
                  <a:srgbClr val="FFFFFF">
                    <a:alpha val="71000"/>
                  </a:srgbClr>
                </a:gs>
                <a:gs pos="66667">
                  <a:srgbClr val="FFFFFF">
                    <a:alpha val="54000"/>
                  </a:srgbClr>
                </a:gs>
                <a:gs pos="100000">
                  <a:srgbClr val="FFFFFF">
                    <a:alpha val="21500"/>
                  </a:srgbClr>
                </a:gs>
              </a:gsLst>
              <a:lin ang="5400000"/>
            </a:gradFill>
          </p:spPr>
        </p:sp>
        <p:sp>
          <p:nvSpPr>
            <p:cNvPr name="TextBox 15" id="15"/>
            <p:cNvSpPr txBox="true"/>
            <p:nvPr/>
          </p:nvSpPr>
          <p:spPr>
            <a:xfrm>
              <a:off x="0" y="-38100"/>
              <a:ext cx="4143369" cy="533265"/>
            </a:xfrm>
            <a:prstGeom prst="rect">
              <a:avLst/>
            </a:prstGeom>
          </p:spPr>
          <p:txBody>
            <a:bodyPr anchor="ctr" rtlCol="false" tIns="50800" lIns="50800" bIns="50800" rIns="50800"/>
            <a:lstStyle/>
            <a:p>
              <a:pPr algn="ctr">
                <a:lnSpc>
                  <a:spcPts val="2078"/>
                </a:lnSpc>
              </a:pPr>
            </a:p>
          </p:txBody>
        </p:sp>
      </p:grpSp>
      <p:sp>
        <p:nvSpPr>
          <p:cNvPr name="Freeform 16" id="16"/>
          <p:cNvSpPr/>
          <p:nvPr/>
        </p:nvSpPr>
        <p:spPr>
          <a:xfrm flipH="false" flipV="false" rot="-10800000">
            <a:off x="10116522" y="9222171"/>
            <a:ext cx="9281250" cy="4640625"/>
          </a:xfrm>
          <a:custGeom>
            <a:avLst/>
            <a:gdLst/>
            <a:ahLst/>
            <a:cxnLst/>
            <a:rect r="r" b="b" t="t" l="l"/>
            <a:pathLst>
              <a:path h="4640625" w="9281250">
                <a:moveTo>
                  <a:pt x="0" y="0"/>
                </a:moveTo>
                <a:lnTo>
                  <a:pt x="9281250" y="0"/>
                </a:lnTo>
                <a:lnTo>
                  <a:pt x="9281250" y="4640625"/>
                </a:lnTo>
                <a:lnTo>
                  <a:pt x="0" y="46406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false" rot="-10800000">
            <a:off x="971550" y="-3324521"/>
            <a:ext cx="7334017" cy="3667009"/>
          </a:xfrm>
          <a:custGeom>
            <a:avLst/>
            <a:gdLst/>
            <a:ahLst/>
            <a:cxnLst/>
            <a:rect r="r" b="b" t="t" l="l"/>
            <a:pathLst>
              <a:path h="3667009" w="7334017">
                <a:moveTo>
                  <a:pt x="7334017" y="0"/>
                </a:moveTo>
                <a:lnTo>
                  <a:pt x="0" y="0"/>
                </a:lnTo>
                <a:lnTo>
                  <a:pt x="0" y="3667009"/>
                </a:lnTo>
                <a:lnTo>
                  <a:pt x="7334017" y="3667009"/>
                </a:lnTo>
                <a:lnTo>
                  <a:pt x="7334017"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8" id="18"/>
          <p:cNvGrpSpPr/>
          <p:nvPr/>
        </p:nvGrpSpPr>
        <p:grpSpPr>
          <a:xfrm rot="-10800000">
            <a:off x="8268687" y="-342488"/>
            <a:ext cx="10923063" cy="684975"/>
            <a:chOff x="0" y="0"/>
            <a:chExt cx="2891335" cy="181313"/>
          </a:xfrm>
        </p:grpSpPr>
        <p:sp>
          <p:nvSpPr>
            <p:cNvPr name="Freeform 19" id="19"/>
            <p:cNvSpPr/>
            <p:nvPr/>
          </p:nvSpPr>
          <p:spPr>
            <a:xfrm flipH="false" flipV="false" rot="0">
              <a:off x="0" y="0"/>
              <a:ext cx="2891335" cy="181313"/>
            </a:xfrm>
            <a:custGeom>
              <a:avLst/>
              <a:gdLst/>
              <a:ahLst/>
              <a:cxnLst/>
              <a:rect r="r" b="b" t="t" l="l"/>
              <a:pathLst>
                <a:path h="181313" w="2891335">
                  <a:moveTo>
                    <a:pt x="0" y="0"/>
                  </a:moveTo>
                  <a:lnTo>
                    <a:pt x="2891335" y="0"/>
                  </a:lnTo>
                  <a:lnTo>
                    <a:pt x="2891335" y="181313"/>
                  </a:lnTo>
                  <a:lnTo>
                    <a:pt x="0" y="181313"/>
                  </a:lnTo>
                  <a:close/>
                </a:path>
              </a:pathLst>
            </a:custGeom>
            <a:solidFill>
              <a:srgbClr val="04223C"/>
            </a:solidFill>
          </p:spPr>
        </p:sp>
        <p:sp>
          <p:nvSpPr>
            <p:cNvPr name="TextBox 20" id="20"/>
            <p:cNvSpPr txBox="true"/>
            <p:nvPr/>
          </p:nvSpPr>
          <p:spPr>
            <a:xfrm>
              <a:off x="0" y="-38100"/>
              <a:ext cx="2891335" cy="219413"/>
            </a:xfrm>
            <a:prstGeom prst="rect">
              <a:avLst/>
            </a:prstGeom>
          </p:spPr>
          <p:txBody>
            <a:bodyPr anchor="ctr" rtlCol="false" tIns="48876" lIns="48876" bIns="48876" rIns="48876"/>
            <a:lstStyle/>
            <a:p>
              <a:pPr algn="ctr">
                <a:lnSpc>
                  <a:spcPts val="2078"/>
                </a:lnSpc>
              </a:pPr>
            </a:p>
          </p:txBody>
        </p:sp>
      </p:grpSp>
      <p:sp>
        <p:nvSpPr>
          <p:cNvPr name="TextBox 21" id="21"/>
          <p:cNvSpPr txBox="true"/>
          <p:nvPr/>
        </p:nvSpPr>
        <p:spPr>
          <a:xfrm rot="0">
            <a:off x="4091925" y="1205520"/>
            <a:ext cx="13167375" cy="1002919"/>
          </a:xfrm>
          <a:prstGeom prst="rect">
            <a:avLst/>
          </a:prstGeom>
        </p:spPr>
        <p:txBody>
          <a:bodyPr anchor="t" rtlCol="false" tIns="0" lIns="0" bIns="0" rIns="0">
            <a:spAutoFit/>
          </a:bodyPr>
          <a:lstStyle/>
          <a:p>
            <a:pPr algn="l">
              <a:lnSpc>
                <a:spcPts val="7807"/>
              </a:lnSpc>
            </a:pPr>
            <a:r>
              <a:rPr lang="en-US" sz="6399" b="true">
                <a:solidFill>
                  <a:srgbClr val="40A8CD"/>
                </a:solidFill>
                <a:latin typeface="Nourd Bold"/>
                <a:ea typeface="Nourd Bold"/>
                <a:cs typeface="Nourd Bold"/>
                <a:sym typeface="Nourd Bold"/>
              </a:rPr>
              <a:t>Background and Motivation</a:t>
            </a:r>
          </a:p>
        </p:txBody>
      </p:sp>
      <p:sp>
        <p:nvSpPr>
          <p:cNvPr name="TextBox 22" id="22"/>
          <p:cNvSpPr txBox="true"/>
          <p:nvPr/>
        </p:nvSpPr>
        <p:spPr>
          <a:xfrm rot="0">
            <a:off x="8918605" y="9545467"/>
            <a:ext cx="8822879" cy="422275"/>
          </a:xfrm>
          <a:prstGeom prst="rect">
            <a:avLst/>
          </a:prstGeom>
        </p:spPr>
        <p:txBody>
          <a:bodyPr anchor="t" rtlCol="false" tIns="0" lIns="0" bIns="0" rIns="0">
            <a:spAutoFit/>
          </a:bodyPr>
          <a:lstStyle/>
          <a:p>
            <a:pPr algn="r">
              <a:lnSpc>
                <a:spcPts val="3499"/>
              </a:lnSpc>
            </a:pPr>
            <a:r>
              <a:rPr lang="en-US" sz="2499">
                <a:solidFill>
                  <a:srgbClr val="4E4E4E"/>
                </a:solidFill>
                <a:latin typeface="Nourd"/>
                <a:ea typeface="Nourd"/>
                <a:cs typeface="Nourd"/>
                <a:sym typeface="Nourd"/>
              </a:rPr>
              <a:t>ICoDSE | 2025</a:t>
            </a:r>
          </a:p>
        </p:txBody>
      </p:sp>
      <p:sp>
        <p:nvSpPr>
          <p:cNvPr name="TextBox 23" id="23"/>
          <p:cNvSpPr txBox="true"/>
          <p:nvPr/>
        </p:nvSpPr>
        <p:spPr>
          <a:xfrm rot="0">
            <a:off x="4091925" y="2265141"/>
            <a:ext cx="13167375" cy="2613025"/>
          </a:xfrm>
          <a:prstGeom prst="rect">
            <a:avLst/>
          </a:prstGeom>
        </p:spPr>
        <p:txBody>
          <a:bodyPr anchor="t" rtlCol="false" tIns="0" lIns="0" bIns="0" rIns="0">
            <a:spAutoFit/>
          </a:bodyPr>
          <a:lstStyle/>
          <a:p>
            <a:pPr algn="just">
              <a:lnSpc>
                <a:spcPts val="3499"/>
              </a:lnSpc>
            </a:pPr>
            <a:r>
              <a:rPr lang="en-US" sz="2499">
                <a:solidFill>
                  <a:srgbClr val="04223C"/>
                </a:solidFill>
                <a:latin typeface="Nourd"/>
                <a:ea typeface="Nourd"/>
                <a:cs typeface="Nourd"/>
                <a:sym typeface="Nourd"/>
              </a:rPr>
              <a:t>Cyberattacks have surged globally, with ransomware emerging as one of the most dominant and financially motivated threats. The acceleration of digital transformation, particularly during and after the COVID-19 pandemic, has significantly expanded the use of interconnected systems across industries, increasing their vulnerability. The Asia-Pacific (APAC) region recorded 34% of all global attacks in 2024, highlighting its prominence as a primary target.</a:t>
            </a:r>
          </a:p>
        </p:txBody>
      </p:sp>
      <p:sp>
        <p:nvSpPr>
          <p:cNvPr name="TextBox 24" id="24"/>
          <p:cNvSpPr txBox="true"/>
          <p:nvPr/>
        </p:nvSpPr>
        <p:spPr>
          <a:xfrm rot="0">
            <a:off x="4091925" y="5095875"/>
            <a:ext cx="13167375" cy="1736725"/>
          </a:xfrm>
          <a:prstGeom prst="rect">
            <a:avLst/>
          </a:prstGeom>
        </p:spPr>
        <p:txBody>
          <a:bodyPr anchor="t" rtlCol="false" tIns="0" lIns="0" bIns="0" rIns="0">
            <a:spAutoFit/>
          </a:bodyPr>
          <a:lstStyle/>
          <a:p>
            <a:pPr algn="just">
              <a:lnSpc>
                <a:spcPts val="3499"/>
              </a:lnSpc>
            </a:pPr>
            <a:r>
              <a:rPr lang="en-US" sz="2499">
                <a:solidFill>
                  <a:srgbClr val="04223C"/>
                </a:solidFill>
                <a:latin typeface="Nourd"/>
                <a:ea typeface="Nourd"/>
                <a:cs typeface="Nourd"/>
                <a:sym typeface="Nourd"/>
              </a:rPr>
              <a:t>Ransomware no longer directly targets large enterprises. Many variants now exploit individual endpoint vulnerabilities, as personal devices often serve as the weakest security link. Once a user’s device is compromised, some ransomware can move laterally across networks, escalating privileges to reach critical corporate servers.</a:t>
            </a:r>
          </a:p>
        </p:txBody>
      </p:sp>
      <p:sp>
        <p:nvSpPr>
          <p:cNvPr name="TextBox 25" id="25"/>
          <p:cNvSpPr txBox="true"/>
          <p:nvPr/>
        </p:nvSpPr>
        <p:spPr>
          <a:xfrm rot="0">
            <a:off x="4091925" y="7051675"/>
            <a:ext cx="13167375" cy="1736725"/>
          </a:xfrm>
          <a:prstGeom prst="rect">
            <a:avLst/>
          </a:prstGeom>
        </p:spPr>
        <p:txBody>
          <a:bodyPr anchor="t" rtlCol="false" tIns="0" lIns="0" bIns="0" rIns="0">
            <a:spAutoFit/>
          </a:bodyPr>
          <a:lstStyle/>
          <a:p>
            <a:pPr algn="just">
              <a:lnSpc>
                <a:spcPts val="3499"/>
              </a:lnSpc>
            </a:pPr>
            <a:r>
              <a:rPr lang="en-US" sz="2499">
                <a:solidFill>
                  <a:srgbClr val="04223C"/>
                </a:solidFill>
                <a:latin typeface="Nourd"/>
                <a:ea typeface="Nourd"/>
                <a:cs typeface="Nourd"/>
                <a:sym typeface="Nourd"/>
              </a:rPr>
              <a:t>In 2024, 303,298 users were impacted by ransomware, including 98,203 from corporate and 14,517 from SME environments. The average data breach cost in 2025 reached USD 4.44 million per incident, emphasizing the immense financial risk of inadequate endpoint protection.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3451814" y="2646567"/>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3451814" y="5480210"/>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3759899" y="2914571"/>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5400000">
            <a:off x="-3759899" y="5748214"/>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0800000">
            <a:off x="-312917" y="1711428"/>
            <a:ext cx="1883948" cy="1883948"/>
          </a:xfrm>
          <a:custGeom>
            <a:avLst/>
            <a:gdLst/>
            <a:ahLst/>
            <a:cxnLst/>
            <a:rect r="r" b="b" t="t" l="l"/>
            <a:pathLst>
              <a:path h="1883948" w="1883948">
                <a:moveTo>
                  <a:pt x="0" y="0"/>
                </a:moveTo>
                <a:lnTo>
                  <a:pt x="1883948" y="0"/>
                </a:lnTo>
                <a:lnTo>
                  <a:pt x="1883948" y="1883948"/>
                </a:lnTo>
                <a:lnTo>
                  <a:pt x="0" y="18839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5400000">
            <a:off x="1738434" y="1711428"/>
            <a:ext cx="1202677" cy="1202677"/>
          </a:xfrm>
          <a:custGeom>
            <a:avLst/>
            <a:gdLst/>
            <a:ahLst/>
            <a:cxnLst/>
            <a:rect r="r" b="b" t="t" l="l"/>
            <a:pathLst>
              <a:path h="1202677" w="1202677">
                <a:moveTo>
                  <a:pt x="0" y="0"/>
                </a:moveTo>
                <a:lnTo>
                  <a:pt x="1202676" y="0"/>
                </a:lnTo>
                <a:lnTo>
                  <a:pt x="1202676" y="1202677"/>
                </a:lnTo>
                <a:lnTo>
                  <a:pt x="0" y="12026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10800000">
            <a:off x="1706937" y="425887"/>
            <a:ext cx="1168661" cy="1168661"/>
          </a:xfrm>
          <a:custGeom>
            <a:avLst/>
            <a:gdLst/>
            <a:ahLst/>
            <a:cxnLst/>
            <a:rect r="r" b="b" t="t" l="l"/>
            <a:pathLst>
              <a:path h="1168661" w="1168661">
                <a:moveTo>
                  <a:pt x="0" y="0"/>
                </a:moveTo>
                <a:lnTo>
                  <a:pt x="1168660" y="0"/>
                </a:lnTo>
                <a:lnTo>
                  <a:pt x="1168660" y="1168661"/>
                </a:lnTo>
                <a:lnTo>
                  <a:pt x="0" y="11686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5494193">
            <a:off x="-288851" y="-317006"/>
            <a:ext cx="1886072" cy="1886072"/>
          </a:xfrm>
          <a:custGeom>
            <a:avLst/>
            <a:gdLst/>
            <a:ahLst/>
            <a:cxnLst/>
            <a:rect r="r" b="b" t="t" l="l"/>
            <a:pathLst>
              <a:path h="1886072" w="1886072">
                <a:moveTo>
                  <a:pt x="0" y="0"/>
                </a:moveTo>
                <a:lnTo>
                  <a:pt x="1886071" y="0"/>
                </a:lnTo>
                <a:lnTo>
                  <a:pt x="1886071" y="1886072"/>
                </a:lnTo>
                <a:lnTo>
                  <a:pt x="0" y="18860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10800000">
            <a:off x="2875597" y="9336132"/>
            <a:ext cx="4888040" cy="1015888"/>
          </a:xfrm>
          <a:custGeom>
            <a:avLst/>
            <a:gdLst/>
            <a:ahLst/>
            <a:cxnLst/>
            <a:rect r="r" b="b" t="t" l="l"/>
            <a:pathLst>
              <a:path h="1015888" w="4888040">
                <a:moveTo>
                  <a:pt x="0" y="0"/>
                </a:moveTo>
                <a:lnTo>
                  <a:pt x="4888041" y="0"/>
                </a:lnTo>
                <a:lnTo>
                  <a:pt x="4888041"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10800000">
            <a:off x="7782688" y="9337492"/>
            <a:ext cx="4888040" cy="1015888"/>
          </a:xfrm>
          <a:custGeom>
            <a:avLst/>
            <a:gdLst/>
            <a:ahLst/>
            <a:cxnLst/>
            <a:rect r="r" b="b" t="t" l="l"/>
            <a:pathLst>
              <a:path h="1015888" w="4888040">
                <a:moveTo>
                  <a:pt x="0" y="0"/>
                </a:moveTo>
                <a:lnTo>
                  <a:pt x="4888040" y="0"/>
                </a:lnTo>
                <a:lnTo>
                  <a:pt x="4888040"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10800000">
            <a:off x="12689778" y="9338853"/>
            <a:ext cx="4888040" cy="1015888"/>
          </a:xfrm>
          <a:custGeom>
            <a:avLst/>
            <a:gdLst/>
            <a:ahLst/>
            <a:cxnLst/>
            <a:rect r="r" b="b" t="t" l="l"/>
            <a:pathLst>
              <a:path h="1015888" w="4888040">
                <a:moveTo>
                  <a:pt x="0" y="0"/>
                </a:moveTo>
                <a:lnTo>
                  <a:pt x="4888040" y="0"/>
                </a:lnTo>
                <a:lnTo>
                  <a:pt x="4888040"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grpSp>
        <p:nvGrpSpPr>
          <p:cNvPr name="Group 13" id="13"/>
          <p:cNvGrpSpPr/>
          <p:nvPr/>
        </p:nvGrpSpPr>
        <p:grpSpPr>
          <a:xfrm rot="0">
            <a:off x="2875597" y="9127948"/>
            <a:ext cx="15731854" cy="1880081"/>
            <a:chOff x="0" y="0"/>
            <a:chExt cx="4143369" cy="495165"/>
          </a:xfrm>
        </p:grpSpPr>
        <p:sp>
          <p:nvSpPr>
            <p:cNvPr name="Freeform 14" id="14"/>
            <p:cNvSpPr/>
            <p:nvPr/>
          </p:nvSpPr>
          <p:spPr>
            <a:xfrm flipH="false" flipV="false" rot="0">
              <a:off x="0" y="0"/>
              <a:ext cx="4143369" cy="495165"/>
            </a:xfrm>
            <a:custGeom>
              <a:avLst/>
              <a:gdLst/>
              <a:ahLst/>
              <a:cxnLst/>
              <a:rect r="r" b="b" t="t" l="l"/>
              <a:pathLst>
                <a:path h="495165" w="4143369">
                  <a:moveTo>
                    <a:pt x="0" y="0"/>
                  </a:moveTo>
                  <a:lnTo>
                    <a:pt x="4143369" y="0"/>
                  </a:lnTo>
                  <a:lnTo>
                    <a:pt x="4143369" y="495165"/>
                  </a:lnTo>
                  <a:lnTo>
                    <a:pt x="0" y="495165"/>
                  </a:lnTo>
                  <a:close/>
                </a:path>
              </a:pathLst>
            </a:custGeom>
            <a:gradFill rotWithShape="true">
              <a:gsLst>
                <a:gs pos="0">
                  <a:srgbClr val="FFFFFF">
                    <a:alpha val="100000"/>
                  </a:srgbClr>
                </a:gs>
                <a:gs pos="33333">
                  <a:srgbClr val="FFFFFF">
                    <a:alpha val="71000"/>
                  </a:srgbClr>
                </a:gs>
                <a:gs pos="66667">
                  <a:srgbClr val="FFFFFF">
                    <a:alpha val="54000"/>
                  </a:srgbClr>
                </a:gs>
                <a:gs pos="100000">
                  <a:srgbClr val="FFFFFF">
                    <a:alpha val="21500"/>
                  </a:srgbClr>
                </a:gs>
              </a:gsLst>
              <a:lin ang="5400000"/>
            </a:gradFill>
          </p:spPr>
        </p:sp>
        <p:sp>
          <p:nvSpPr>
            <p:cNvPr name="TextBox 15" id="15"/>
            <p:cNvSpPr txBox="true"/>
            <p:nvPr/>
          </p:nvSpPr>
          <p:spPr>
            <a:xfrm>
              <a:off x="0" y="-38100"/>
              <a:ext cx="4143369" cy="533265"/>
            </a:xfrm>
            <a:prstGeom prst="rect">
              <a:avLst/>
            </a:prstGeom>
          </p:spPr>
          <p:txBody>
            <a:bodyPr anchor="ctr" rtlCol="false" tIns="50800" lIns="50800" bIns="50800" rIns="50800"/>
            <a:lstStyle/>
            <a:p>
              <a:pPr algn="ctr">
                <a:lnSpc>
                  <a:spcPts val="2078"/>
                </a:lnSpc>
              </a:pPr>
            </a:p>
          </p:txBody>
        </p:sp>
      </p:grpSp>
      <p:sp>
        <p:nvSpPr>
          <p:cNvPr name="Freeform 16" id="16"/>
          <p:cNvSpPr/>
          <p:nvPr/>
        </p:nvSpPr>
        <p:spPr>
          <a:xfrm flipH="false" flipV="false" rot="-10800000">
            <a:off x="10116522" y="9222171"/>
            <a:ext cx="9281250" cy="4640625"/>
          </a:xfrm>
          <a:custGeom>
            <a:avLst/>
            <a:gdLst/>
            <a:ahLst/>
            <a:cxnLst/>
            <a:rect r="r" b="b" t="t" l="l"/>
            <a:pathLst>
              <a:path h="4640625" w="9281250">
                <a:moveTo>
                  <a:pt x="0" y="0"/>
                </a:moveTo>
                <a:lnTo>
                  <a:pt x="9281250" y="0"/>
                </a:lnTo>
                <a:lnTo>
                  <a:pt x="9281250" y="4640625"/>
                </a:lnTo>
                <a:lnTo>
                  <a:pt x="0" y="46406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false" rot="-10800000">
            <a:off x="971550" y="-3324521"/>
            <a:ext cx="7334017" cy="3667009"/>
          </a:xfrm>
          <a:custGeom>
            <a:avLst/>
            <a:gdLst/>
            <a:ahLst/>
            <a:cxnLst/>
            <a:rect r="r" b="b" t="t" l="l"/>
            <a:pathLst>
              <a:path h="3667009" w="7334017">
                <a:moveTo>
                  <a:pt x="7334017" y="0"/>
                </a:moveTo>
                <a:lnTo>
                  <a:pt x="0" y="0"/>
                </a:lnTo>
                <a:lnTo>
                  <a:pt x="0" y="3667009"/>
                </a:lnTo>
                <a:lnTo>
                  <a:pt x="7334017" y="3667009"/>
                </a:lnTo>
                <a:lnTo>
                  <a:pt x="7334017"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8" id="18"/>
          <p:cNvGrpSpPr/>
          <p:nvPr/>
        </p:nvGrpSpPr>
        <p:grpSpPr>
          <a:xfrm rot="-10800000">
            <a:off x="8268687" y="-342488"/>
            <a:ext cx="10923063" cy="684975"/>
            <a:chOff x="0" y="0"/>
            <a:chExt cx="2891335" cy="181313"/>
          </a:xfrm>
        </p:grpSpPr>
        <p:sp>
          <p:nvSpPr>
            <p:cNvPr name="Freeform 19" id="19"/>
            <p:cNvSpPr/>
            <p:nvPr/>
          </p:nvSpPr>
          <p:spPr>
            <a:xfrm flipH="false" flipV="false" rot="0">
              <a:off x="0" y="0"/>
              <a:ext cx="2891335" cy="181313"/>
            </a:xfrm>
            <a:custGeom>
              <a:avLst/>
              <a:gdLst/>
              <a:ahLst/>
              <a:cxnLst/>
              <a:rect r="r" b="b" t="t" l="l"/>
              <a:pathLst>
                <a:path h="181313" w="2891335">
                  <a:moveTo>
                    <a:pt x="0" y="0"/>
                  </a:moveTo>
                  <a:lnTo>
                    <a:pt x="2891335" y="0"/>
                  </a:lnTo>
                  <a:lnTo>
                    <a:pt x="2891335" y="181313"/>
                  </a:lnTo>
                  <a:lnTo>
                    <a:pt x="0" y="181313"/>
                  </a:lnTo>
                  <a:close/>
                </a:path>
              </a:pathLst>
            </a:custGeom>
            <a:solidFill>
              <a:srgbClr val="04223C"/>
            </a:solidFill>
          </p:spPr>
        </p:sp>
        <p:sp>
          <p:nvSpPr>
            <p:cNvPr name="TextBox 20" id="20"/>
            <p:cNvSpPr txBox="true"/>
            <p:nvPr/>
          </p:nvSpPr>
          <p:spPr>
            <a:xfrm>
              <a:off x="0" y="-38100"/>
              <a:ext cx="2891335" cy="219413"/>
            </a:xfrm>
            <a:prstGeom prst="rect">
              <a:avLst/>
            </a:prstGeom>
          </p:spPr>
          <p:txBody>
            <a:bodyPr anchor="ctr" rtlCol="false" tIns="48876" lIns="48876" bIns="48876" rIns="48876"/>
            <a:lstStyle/>
            <a:p>
              <a:pPr algn="ctr">
                <a:lnSpc>
                  <a:spcPts val="2078"/>
                </a:lnSpc>
              </a:pPr>
            </a:p>
          </p:txBody>
        </p:sp>
      </p:grpSp>
      <p:sp>
        <p:nvSpPr>
          <p:cNvPr name="TextBox 21" id="21"/>
          <p:cNvSpPr txBox="true"/>
          <p:nvPr/>
        </p:nvSpPr>
        <p:spPr>
          <a:xfrm rot="0">
            <a:off x="4091925" y="1205520"/>
            <a:ext cx="13167375" cy="1002919"/>
          </a:xfrm>
          <a:prstGeom prst="rect">
            <a:avLst/>
          </a:prstGeom>
        </p:spPr>
        <p:txBody>
          <a:bodyPr anchor="t" rtlCol="false" tIns="0" lIns="0" bIns="0" rIns="0">
            <a:spAutoFit/>
          </a:bodyPr>
          <a:lstStyle/>
          <a:p>
            <a:pPr algn="l">
              <a:lnSpc>
                <a:spcPts val="7807"/>
              </a:lnSpc>
            </a:pPr>
            <a:r>
              <a:rPr lang="en-US" sz="6399" b="true">
                <a:solidFill>
                  <a:srgbClr val="40A8CD"/>
                </a:solidFill>
                <a:latin typeface="Nourd Bold"/>
                <a:ea typeface="Nourd Bold"/>
                <a:cs typeface="Nourd Bold"/>
                <a:sym typeface="Nourd Bold"/>
              </a:rPr>
              <a:t>Research Focus and Scope</a:t>
            </a:r>
          </a:p>
        </p:txBody>
      </p:sp>
      <p:sp>
        <p:nvSpPr>
          <p:cNvPr name="TextBox 22" id="22"/>
          <p:cNvSpPr txBox="true"/>
          <p:nvPr/>
        </p:nvSpPr>
        <p:spPr>
          <a:xfrm rot="0">
            <a:off x="8918605" y="9545467"/>
            <a:ext cx="8822879" cy="422275"/>
          </a:xfrm>
          <a:prstGeom prst="rect">
            <a:avLst/>
          </a:prstGeom>
        </p:spPr>
        <p:txBody>
          <a:bodyPr anchor="t" rtlCol="false" tIns="0" lIns="0" bIns="0" rIns="0">
            <a:spAutoFit/>
          </a:bodyPr>
          <a:lstStyle/>
          <a:p>
            <a:pPr algn="r">
              <a:lnSpc>
                <a:spcPts val="3499"/>
              </a:lnSpc>
            </a:pPr>
            <a:r>
              <a:rPr lang="en-US" sz="2499">
                <a:solidFill>
                  <a:srgbClr val="4E4E4E"/>
                </a:solidFill>
                <a:latin typeface="Nourd"/>
                <a:ea typeface="Nourd"/>
                <a:cs typeface="Nourd"/>
                <a:sym typeface="Nourd"/>
              </a:rPr>
              <a:t>ICoDSE | 2025</a:t>
            </a:r>
          </a:p>
        </p:txBody>
      </p:sp>
      <p:sp>
        <p:nvSpPr>
          <p:cNvPr name="TextBox 23" id="23"/>
          <p:cNvSpPr txBox="true"/>
          <p:nvPr/>
        </p:nvSpPr>
        <p:spPr>
          <a:xfrm rot="0">
            <a:off x="4091925" y="2866480"/>
            <a:ext cx="13167375" cy="1298575"/>
          </a:xfrm>
          <a:prstGeom prst="rect">
            <a:avLst/>
          </a:prstGeom>
        </p:spPr>
        <p:txBody>
          <a:bodyPr anchor="t" rtlCol="false" tIns="0" lIns="0" bIns="0" rIns="0">
            <a:spAutoFit/>
          </a:bodyPr>
          <a:lstStyle/>
          <a:p>
            <a:pPr algn="just">
              <a:lnSpc>
                <a:spcPts val="3499"/>
              </a:lnSpc>
            </a:pPr>
            <a:r>
              <a:rPr lang="en-US" sz="2499">
                <a:solidFill>
                  <a:srgbClr val="04223C"/>
                </a:solidFill>
                <a:latin typeface="Nourd"/>
                <a:ea typeface="Nourd"/>
                <a:cs typeface="Nourd"/>
                <a:sym typeface="Nourd"/>
              </a:rPr>
              <a:t>This study is driven by one core question:</a:t>
            </a:r>
          </a:p>
          <a:p>
            <a:pPr algn="just">
              <a:lnSpc>
                <a:spcPts val="3499"/>
              </a:lnSpc>
            </a:pPr>
            <a:r>
              <a:rPr lang="en-US" b="true" sz="2499">
                <a:solidFill>
                  <a:srgbClr val="04223C"/>
                </a:solidFill>
                <a:latin typeface="Nourd Bold"/>
                <a:ea typeface="Nourd Bold"/>
                <a:cs typeface="Nourd Bold"/>
                <a:sym typeface="Nourd Bold"/>
              </a:rPr>
              <a:t>How effective and resilient are antivirus programs in handling a zero-day crypto-ransomware attack?</a:t>
            </a:r>
          </a:p>
        </p:txBody>
      </p:sp>
      <p:sp>
        <p:nvSpPr>
          <p:cNvPr name="TextBox 24" id="24"/>
          <p:cNvSpPr txBox="true"/>
          <p:nvPr/>
        </p:nvSpPr>
        <p:spPr>
          <a:xfrm rot="0">
            <a:off x="4091925" y="4387762"/>
            <a:ext cx="13167375" cy="2174875"/>
          </a:xfrm>
          <a:prstGeom prst="rect">
            <a:avLst/>
          </a:prstGeom>
        </p:spPr>
        <p:txBody>
          <a:bodyPr anchor="t" rtlCol="false" tIns="0" lIns="0" bIns="0" rIns="0">
            <a:spAutoFit/>
          </a:bodyPr>
          <a:lstStyle/>
          <a:p>
            <a:pPr algn="just">
              <a:lnSpc>
                <a:spcPts val="3499"/>
              </a:lnSpc>
            </a:pPr>
            <a:r>
              <a:rPr lang="en-US" sz="2499">
                <a:solidFill>
                  <a:srgbClr val="04223C"/>
                </a:solidFill>
                <a:latin typeface="Nourd"/>
                <a:ea typeface="Nourd"/>
                <a:cs typeface="Nourd"/>
                <a:sym typeface="Nourd"/>
              </a:rPr>
              <a:t>To answer this, we simulate zero-day crypto-ransomware behavior on personal devices to assess the </a:t>
            </a:r>
            <a:r>
              <a:rPr lang="en-US" b="true" sz="2499">
                <a:solidFill>
                  <a:srgbClr val="04223C"/>
                </a:solidFill>
                <a:latin typeface="Nourd Bold"/>
                <a:ea typeface="Nourd Bold"/>
                <a:cs typeface="Nourd Bold"/>
                <a:sym typeface="Nourd Bold"/>
              </a:rPr>
              <a:t>detection and mitigation capabilities</a:t>
            </a:r>
            <a:r>
              <a:rPr lang="en-US" sz="2499">
                <a:solidFill>
                  <a:srgbClr val="04223C"/>
                </a:solidFill>
                <a:latin typeface="Nourd"/>
                <a:ea typeface="Nourd"/>
                <a:cs typeface="Nourd"/>
                <a:sym typeface="Nourd"/>
              </a:rPr>
              <a:t> of multiple antivirus solutions. A custom ransomware model was developed to realistically mimic malicious behavior in a </a:t>
            </a:r>
            <a:r>
              <a:rPr lang="en-US" b="true" sz="2499">
                <a:solidFill>
                  <a:srgbClr val="04223C"/>
                </a:solidFill>
                <a:latin typeface="Nourd Bold"/>
                <a:ea typeface="Nourd Bold"/>
                <a:cs typeface="Nourd Bold"/>
                <a:sym typeface="Nourd Bold"/>
              </a:rPr>
              <a:t>controlled testing environment</a:t>
            </a:r>
            <a:r>
              <a:rPr lang="en-US" sz="2499">
                <a:solidFill>
                  <a:srgbClr val="04223C"/>
                </a:solidFill>
                <a:latin typeface="Nourd"/>
                <a:ea typeface="Nourd"/>
                <a:cs typeface="Nourd"/>
                <a:sym typeface="Nourd"/>
              </a:rPr>
              <a:t>, utilizing various encryption methods and techniques to evaluate antivirus performance against previously unknown threats.</a:t>
            </a:r>
          </a:p>
        </p:txBody>
      </p:sp>
      <p:sp>
        <p:nvSpPr>
          <p:cNvPr name="TextBox 25" id="25"/>
          <p:cNvSpPr txBox="true"/>
          <p:nvPr/>
        </p:nvSpPr>
        <p:spPr>
          <a:xfrm rot="0">
            <a:off x="4091925" y="6781712"/>
            <a:ext cx="13167375" cy="2174875"/>
          </a:xfrm>
          <a:prstGeom prst="rect">
            <a:avLst/>
          </a:prstGeom>
        </p:spPr>
        <p:txBody>
          <a:bodyPr anchor="t" rtlCol="false" tIns="0" lIns="0" bIns="0" rIns="0">
            <a:spAutoFit/>
          </a:bodyPr>
          <a:lstStyle/>
          <a:p>
            <a:pPr algn="just">
              <a:lnSpc>
                <a:spcPts val="3499"/>
              </a:lnSpc>
            </a:pPr>
            <a:r>
              <a:rPr lang="en-US" sz="2499">
                <a:solidFill>
                  <a:srgbClr val="04223C"/>
                </a:solidFill>
                <a:latin typeface="Nourd"/>
                <a:ea typeface="Nourd"/>
                <a:cs typeface="Nourd"/>
                <a:sym typeface="Nourd"/>
              </a:rPr>
              <a:t>The scope is restricted to the </a:t>
            </a:r>
            <a:r>
              <a:rPr lang="en-US" b="true" sz="2499">
                <a:solidFill>
                  <a:srgbClr val="04223C"/>
                </a:solidFill>
                <a:latin typeface="Nourd Bold"/>
                <a:ea typeface="Nourd Bold"/>
                <a:cs typeface="Nourd Bold"/>
                <a:sym typeface="Nourd Bold"/>
              </a:rPr>
              <a:t>crypto-ransomware component</a:t>
            </a:r>
            <a:r>
              <a:rPr lang="en-US" sz="2499">
                <a:solidFill>
                  <a:srgbClr val="04223C"/>
                </a:solidFill>
                <a:latin typeface="Nourd"/>
                <a:ea typeface="Nourd"/>
                <a:cs typeface="Nourd"/>
                <a:sym typeface="Nourd"/>
              </a:rPr>
              <a:t> only, assuming the infection occurs via social engineering techniques. All experiments are conducted on </a:t>
            </a:r>
            <a:r>
              <a:rPr lang="en-US" b="true" sz="2499">
                <a:solidFill>
                  <a:srgbClr val="04223C"/>
                </a:solidFill>
                <a:latin typeface="Nourd Bold"/>
                <a:ea typeface="Nourd Bold"/>
                <a:cs typeface="Nourd Bold"/>
                <a:sym typeface="Nourd Bold"/>
              </a:rPr>
              <a:t>Windows 11 Pro</a:t>
            </a:r>
            <a:r>
              <a:rPr lang="en-US" sz="2499">
                <a:solidFill>
                  <a:srgbClr val="04223C"/>
                </a:solidFill>
                <a:latin typeface="Nourd"/>
                <a:ea typeface="Nourd"/>
                <a:cs typeface="Nourd"/>
                <a:sym typeface="Nourd"/>
              </a:rPr>
              <a:t>. The remainder of the paper is organized as follows: Section II reviews related literature, Section III presents the proposed solution, Section IV describes the experimental setup, Section V discusses results, and Section VI concludes the study.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3451814" y="2646567"/>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3451814" y="5480210"/>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3759899" y="2914571"/>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5400000">
            <a:off x="-3759899" y="5748214"/>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0800000">
            <a:off x="-312917" y="1711428"/>
            <a:ext cx="1883948" cy="1883948"/>
          </a:xfrm>
          <a:custGeom>
            <a:avLst/>
            <a:gdLst/>
            <a:ahLst/>
            <a:cxnLst/>
            <a:rect r="r" b="b" t="t" l="l"/>
            <a:pathLst>
              <a:path h="1883948" w="1883948">
                <a:moveTo>
                  <a:pt x="0" y="0"/>
                </a:moveTo>
                <a:lnTo>
                  <a:pt x="1883948" y="0"/>
                </a:lnTo>
                <a:lnTo>
                  <a:pt x="1883948" y="1883948"/>
                </a:lnTo>
                <a:lnTo>
                  <a:pt x="0" y="18839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5400000">
            <a:off x="1738434" y="1711428"/>
            <a:ext cx="1202677" cy="1202677"/>
          </a:xfrm>
          <a:custGeom>
            <a:avLst/>
            <a:gdLst/>
            <a:ahLst/>
            <a:cxnLst/>
            <a:rect r="r" b="b" t="t" l="l"/>
            <a:pathLst>
              <a:path h="1202677" w="1202677">
                <a:moveTo>
                  <a:pt x="0" y="0"/>
                </a:moveTo>
                <a:lnTo>
                  <a:pt x="1202676" y="0"/>
                </a:lnTo>
                <a:lnTo>
                  <a:pt x="1202676" y="1202677"/>
                </a:lnTo>
                <a:lnTo>
                  <a:pt x="0" y="12026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10800000">
            <a:off x="1706937" y="425887"/>
            <a:ext cx="1168661" cy="1168661"/>
          </a:xfrm>
          <a:custGeom>
            <a:avLst/>
            <a:gdLst/>
            <a:ahLst/>
            <a:cxnLst/>
            <a:rect r="r" b="b" t="t" l="l"/>
            <a:pathLst>
              <a:path h="1168661" w="1168661">
                <a:moveTo>
                  <a:pt x="0" y="0"/>
                </a:moveTo>
                <a:lnTo>
                  <a:pt x="1168660" y="0"/>
                </a:lnTo>
                <a:lnTo>
                  <a:pt x="1168660" y="1168661"/>
                </a:lnTo>
                <a:lnTo>
                  <a:pt x="0" y="11686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5494193">
            <a:off x="-288851" y="-317006"/>
            <a:ext cx="1886072" cy="1886072"/>
          </a:xfrm>
          <a:custGeom>
            <a:avLst/>
            <a:gdLst/>
            <a:ahLst/>
            <a:cxnLst/>
            <a:rect r="r" b="b" t="t" l="l"/>
            <a:pathLst>
              <a:path h="1886072" w="1886072">
                <a:moveTo>
                  <a:pt x="0" y="0"/>
                </a:moveTo>
                <a:lnTo>
                  <a:pt x="1886071" y="0"/>
                </a:lnTo>
                <a:lnTo>
                  <a:pt x="1886071" y="1886072"/>
                </a:lnTo>
                <a:lnTo>
                  <a:pt x="0" y="18860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10800000">
            <a:off x="2875597" y="9336132"/>
            <a:ext cx="4888040" cy="1015888"/>
          </a:xfrm>
          <a:custGeom>
            <a:avLst/>
            <a:gdLst/>
            <a:ahLst/>
            <a:cxnLst/>
            <a:rect r="r" b="b" t="t" l="l"/>
            <a:pathLst>
              <a:path h="1015888" w="4888040">
                <a:moveTo>
                  <a:pt x="0" y="0"/>
                </a:moveTo>
                <a:lnTo>
                  <a:pt x="4888041" y="0"/>
                </a:lnTo>
                <a:lnTo>
                  <a:pt x="4888041"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10800000">
            <a:off x="7782688" y="9337492"/>
            <a:ext cx="4888040" cy="1015888"/>
          </a:xfrm>
          <a:custGeom>
            <a:avLst/>
            <a:gdLst/>
            <a:ahLst/>
            <a:cxnLst/>
            <a:rect r="r" b="b" t="t" l="l"/>
            <a:pathLst>
              <a:path h="1015888" w="4888040">
                <a:moveTo>
                  <a:pt x="0" y="0"/>
                </a:moveTo>
                <a:lnTo>
                  <a:pt x="4888040" y="0"/>
                </a:lnTo>
                <a:lnTo>
                  <a:pt x="4888040"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10800000">
            <a:off x="12689778" y="9338853"/>
            <a:ext cx="4888040" cy="1015888"/>
          </a:xfrm>
          <a:custGeom>
            <a:avLst/>
            <a:gdLst/>
            <a:ahLst/>
            <a:cxnLst/>
            <a:rect r="r" b="b" t="t" l="l"/>
            <a:pathLst>
              <a:path h="1015888" w="4888040">
                <a:moveTo>
                  <a:pt x="0" y="0"/>
                </a:moveTo>
                <a:lnTo>
                  <a:pt x="4888040" y="0"/>
                </a:lnTo>
                <a:lnTo>
                  <a:pt x="4888040"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grpSp>
        <p:nvGrpSpPr>
          <p:cNvPr name="Group 13" id="13"/>
          <p:cNvGrpSpPr/>
          <p:nvPr/>
        </p:nvGrpSpPr>
        <p:grpSpPr>
          <a:xfrm rot="0">
            <a:off x="2875597" y="9127948"/>
            <a:ext cx="15731854" cy="1880081"/>
            <a:chOff x="0" y="0"/>
            <a:chExt cx="4143369" cy="495165"/>
          </a:xfrm>
        </p:grpSpPr>
        <p:sp>
          <p:nvSpPr>
            <p:cNvPr name="Freeform 14" id="14"/>
            <p:cNvSpPr/>
            <p:nvPr/>
          </p:nvSpPr>
          <p:spPr>
            <a:xfrm flipH="false" flipV="false" rot="0">
              <a:off x="0" y="0"/>
              <a:ext cx="4143369" cy="495165"/>
            </a:xfrm>
            <a:custGeom>
              <a:avLst/>
              <a:gdLst/>
              <a:ahLst/>
              <a:cxnLst/>
              <a:rect r="r" b="b" t="t" l="l"/>
              <a:pathLst>
                <a:path h="495165" w="4143369">
                  <a:moveTo>
                    <a:pt x="0" y="0"/>
                  </a:moveTo>
                  <a:lnTo>
                    <a:pt x="4143369" y="0"/>
                  </a:lnTo>
                  <a:lnTo>
                    <a:pt x="4143369" y="495165"/>
                  </a:lnTo>
                  <a:lnTo>
                    <a:pt x="0" y="495165"/>
                  </a:lnTo>
                  <a:close/>
                </a:path>
              </a:pathLst>
            </a:custGeom>
            <a:gradFill rotWithShape="true">
              <a:gsLst>
                <a:gs pos="0">
                  <a:srgbClr val="FFFFFF">
                    <a:alpha val="100000"/>
                  </a:srgbClr>
                </a:gs>
                <a:gs pos="33333">
                  <a:srgbClr val="FFFFFF">
                    <a:alpha val="71000"/>
                  </a:srgbClr>
                </a:gs>
                <a:gs pos="66667">
                  <a:srgbClr val="FFFFFF">
                    <a:alpha val="54000"/>
                  </a:srgbClr>
                </a:gs>
                <a:gs pos="100000">
                  <a:srgbClr val="FFFFFF">
                    <a:alpha val="21500"/>
                  </a:srgbClr>
                </a:gs>
              </a:gsLst>
              <a:lin ang="5400000"/>
            </a:gradFill>
          </p:spPr>
        </p:sp>
        <p:sp>
          <p:nvSpPr>
            <p:cNvPr name="TextBox 15" id="15"/>
            <p:cNvSpPr txBox="true"/>
            <p:nvPr/>
          </p:nvSpPr>
          <p:spPr>
            <a:xfrm>
              <a:off x="0" y="-38100"/>
              <a:ext cx="4143369" cy="533265"/>
            </a:xfrm>
            <a:prstGeom prst="rect">
              <a:avLst/>
            </a:prstGeom>
          </p:spPr>
          <p:txBody>
            <a:bodyPr anchor="ctr" rtlCol="false" tIns="50800" lIns="50800" bIns="50800" rIns="50800"/>
            <a:lstStyle/>
            <a:p>
              <a:pPr algn="ctr">
                <a:lnSpc>
                  <a:spcPts val="2078"/>
                </a:lnSpc>
              </a:pPr>
            </a:p>
          </p:txBody>
        </p:sp>
      </p:grpSp>
      <p:sp>
        <p:nvSpPr>
          <p:cNvPr name="Freeform 16" id="16"/>
          <p:cNvSpPr/>
          <p:nvPr/>
        </p:nvSpPr>
        <p:spPr>
          <a:xfrm flipH="false" flipV="false" rot="-10800000">
            <a:off x="10116522" y="9222171"/>
            <a:ext cx="9281250" cy="4640625"/>
          </a:xfrm>
          <a:custGeom>
            <a:avLst/>
            <a:gdLst/>
            <a:ahLst/>
            <a:cxnLst/>
            <a:rect r="r" b="b" t="t" l="l"/>
            <a:pathLst>
              <a:path h="4640625" w="9281250">
                <a:moveTo>
                  <a:pt x="0" y="0"/>
                </a:moveTo>
                <a:lnTo>
                  <a:pt x="9281250" y="0"/>
                </a:lnTo>
                <a:lnTo>
                  <a:pt x="9281250" y="4640625"/>
                </a:lnTo>
                <a:lnTo>
                  <a:pt x="0" y="46406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false" rot="-10800000">
            <a:off x="971550" y="-3324521"/>
            <a:ext cx="7334017" cy="3667009"/>
          </a:xfrm>
          <a:custGeom>
            <a:avLst/>
            <a:gdLst/>
            <a:ahLst/>
            <a:cxnLst/>
            <a:rect r="r" b="b" t="t" l="l"/>
            <a:pathLst>
              <a:path h="3667009" w="7334017">
                <a:moveTo>
                  <a:pt x="7334017" y="0"/>
                </a:moveTo>
                <a:lnTo>
                  <a:pt x="0" y="0"/>
                </a:lnTo>
                <a:lnTo>
                  <a:pt x="0" y="3667009"/>
                </a:lnTo>
                <a:lnTo>
                  <a:pt x="7334017" y="3667009"/>
                </a:lnTo>
                <a:lnTo>
                  <a:pt x="7334017"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8" id="18"/>
          <p:cNvGrpSpPr/>
          <p:nvPr/>
        </p:nvGrpSpPr>
        <p:grpSpPr>
          <a:xfrm rot="-10800000">
            <a:off x="8268687" y="-342488"/>
            <a:ext cx="10923063" cy="684975"/>
            <a:chOff x="0" y="0"/>
            <a:chExt cx="2891335" cy="181313"/>
          </a:xfrm>
        </p:grpSpPr>
        <p:sp>
          <p:nvSpPr>
            <p:cNvPr name="Freeform 19" id="19"/>
            <p:cNvSpPr/>
            <p:nvPr/>
          </p:nvSpPr>
          <p:spPr>
            <a:xfrm flipH="false" flipV="false" rot="0">
              <a:off x="0" y="0"/>
              <a:ext cx="2891335" cy="181313"/>
            </a:xfrm>
            <a:custGeom>
              <a:avLst/>
              <a:gdLst/>
              <a:ahLst/>
              <a:cxnLst/>
              <a:rect r="r" b="b" t="t" l="l"/>
              <a:pathLst>
                <a:path h="181313" w="2891335">
                  <a:moveTo>
                    <a:pt x="0" y="0"/>
                  </a:moveTo>
                  <a:lnTo>
                    <a:pt x="2891335" y="0"/>
                  </a:lnTo>
                  <a:lnTo>
                    <a:pt x="2891335" y="181313"/>
                  </a:lnTo>
                  <a:lnTo>
                    <a:pt x="0" y="181313"/>
                  </a:lnTo>
                  <a:close/>
                </a:path>
              </a:pathLst>
            </a:custGeom>
            <a:solidFill>
              <a:srgbClr val="04223C"/>
            </a:solidFill>
          </p:spPr>
        </p:sp>
        <p:sp>
          <p:nvSpPr>
            <p:cNvPr name="TextBox 20" id="20"/>
            <p:cNvSpPr txBox="true"/>
            <p:nvPr/>
          </p:nvSpPr>
          <p:spPr>
            <a:xfrm>
              <a:off x="0" y="-38100"/>
              <a:ext cx="2891335" cy="219413"/>
            </a:xfrm>
            <a:prstGeom prst="rect">
              <a:avLst/>
            </a:prstGeom>
          </p:spPr>
          <p:txBody>
            <a:bodyPr anchor="ctr" rtlCol="false" tIns="48876" lIns="48876" bIns="48876" rIns="48876"/>
            <a:lstStyle/>
            <a:p>
              <a:pPr algn="ctr">
                <a:lnSpc>
                  <a:spcPts val="2078"/>
                </a:lnSpc>
              </a:pPr>
            </a:p>
          </p:txBody>
        </p:sp>
      </p:grpSp>
      <p:sp>
        <p:nvSpPr>
          <p:cNvPr name="Freeform 21" id="21"/>
          <p:cNvSpPr/>
          <p:nvPr/>
        </p:nvSpPr>
        <p:spPr>
          <a:xfrm flipH="true" flipV="true" rot="0">
            <a:off x="3594814" y="2914105"/>
            <a:ext cx="805739" cy="1005457"/>
          </a:xfrm>
          <a:custGeom>
            <a:avLst/>
            <a:gdLst/>
            <a:ahLst/>
            <a:cxnLst/>
            <a:rect r="r" b="b" t="t" l="l"/>
            <a:pathLst>
              <a:path h="1005457" w="805739">
                <a:moveTo>
                  <a:pt x="805739" y="1005457"/>
                </a:moveTo>
                <a:lnTo>
                  <a:pt x="0" y="1005457"/>
                </a:lnTo>
                <a:lnTo>
                  <a:pt x="0" y="0"/>
                </a:lnTo>
                <a:lnTo>
                  <a:pt x="805739" y="0"/>
                </a:lnTo>
                <a:lnTo>
                  <a:pt x="805739" y="1005457"/>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2" id="22"/>
          <p:cNvSpPr txBox="true"/>
          <p:nvPr/>
        </p:nvSpPr>
        <p:spPr>
          <a:xfrm rot="0">
            <a:off x="4091925" y="1224570"/>
            <a:ext cx="11425142" cy="1152525"/>
          </a:xfrm>
          <a:prstGeom prst="rect">
            <a:avLst/>
          </a:prstGeom>
        </p:spPr>
        <p:txBody>
          <a:bodyPr anchor="t" rtlCol="false" tIns="0" lIns="0" bIns="0" rIns="0">
            <a:spAutoFit/>
          </a:bodyPr>
          <a:lstStyle/>
          <a:p>
            <a:pPr algn="l">
              <a:lnSpc>
                <a:spcPts val="9150"/>
              </a:lnSpc>
            </a:pPr>
            <a:r>
              <a:rPr lang="en-US" sz="7500" b="true">
                <a:solidFill>
                  <a:srgbClr val="40A8CD"/>
                </a:solidFill>
                <a:latin typeface="Nourd Bold"/>
                <a:ea typeface="Nourd Bold"/>
                <a:cs typeface="Nourd Bold"/>
                <a:sym typeface="Nourd Bold"/>
              </a:rPr>
              <a:t>Preliminaries</a:t>
            </a:r>
          </a:p>
        </p:txBody>
      </p:sp>
      <p:sp>
        <p:nvSpPr>
          <p:cNvPr name="TextBox 23" id="23"/>
          <p:cNvSpPr txBox="true"/>
          <p:nvPr/>
        </p:nvSpPr>
        <p:spPr>
          <a:xfrm rot="0">
            <a:off x="8918605" y="9545467"/>
            <a:ext cx="8822879" cy="422275"/>
          </a:xfrm>
          <a:prstGeom prst="rect">
            <a:avLst/>
          </a:prstGeom>
        </p:spPr>
        <p:txBody>
          <a:bodyPr anchor="t" rtlCol="false" tIns="0" lIns="0" bIns="0" rIns="0">
            <a:spAutoFit/>
          </a:bodyPr>
          <a:lstStyle/>
          <a:p>
            <a:pPr algn="r">
              <a:lnSpc>
                <a:spcPts val="3499"/>
              </a:lnSpc>
            </a:pPr>
            <a:r>
              <a:rPr lang="en-US" sz="2499">
                <a:solidFill>
                  <a:srgbClr val="4E4E4E"/>
                </a:solidFill>
                <a:latin typeface="Nourd"/>
                <a:ea typeface="Nourd"/>
                <a:cs typeface="Nourd"/>
                <a:sym typeface="Nourd"/>
              </a:rPr>
              <a:t>ICoDSE | 2025</a:t>
            </a:r>
          </a:p>
        </p:txBody>
      </p:sp>
      <p:sp>
        <p:nvSpPr>
          <p:cNvPr name="TextBox 24" id="24"/>
          <p:cNvSpPr txBox="true"/>
          <p:nvPr/>
        </p:nvSpPr>
        <p:spPr>
          <a:xfrm rot="0">
            <a:off x="4822507" y="2821716"/>
            <a:ext cx="5593949" cy="5241925"/>
          </a:xfrm>
          <a:prstGeom prst="rect">
            <a:avLst/>
          </a:prstGeom>
        </p:spPr>
        <p:txBody>
          <a:bodyPr anchor="t" rtlCol="false" tIns="0" lIns="0" bIns="0" rIns="0">
            <a:spAutoFit/>
          </a:bodyPr>
          <a:lstStyle/>
          <a:p>
            <a:pPr algn="just">
              <a:lnSpc>
                <a:spcPts val="3499"/>
              </a:lnSpc>
            </a:pPr>
            <a:r>
              <a:rPr lang="en-US" sz="2499">
                <a:solidFill>
                  <a:srgbClr val="04223C"/>
                </a:solidFill>
                <a:latin typeface="Nourd"/>
                <a:ea typeface="Nourd"/>
                <a:cs typeface="Nourd"/>
                <a:sym typeface="Nourd"/>
              </a:rPr>
              <a:t>Ransomware is a form of malicious software that restricts access to files or systems until a ransom is paid. Infection typically occurs through phishing, malicious ads, or compromised websites, with some modern variants executing fileless attacks to evade detection. Advanced strains often use a hybrid encryption model, combining symmetric and asymmetric algorithms to secure both data and encryption keys.</a:t>
            </a:r>
          </a:p>
        </p:txBody>
      </p:sp>
      <p:sp>
        <p:nvSpPr>
          <p:cNvPr name="TextBox 25" id="25"/>
          <p:cNvSpPr txBox="true"/>
          <p:nvPr/>
        </p:nvSpPr>
        <p:spPr>
          <a:xfrm rot="0">
            <a:off x="11912217" y="2821716"/>
            <a:ext cx="5594663" cy="4803775"/>
          </a:xfrm>
          <a:prstGeom prst="rect">
            <a:avLst/>
          </a:prstGeom>
        </p:spPr>
        <p:txBody>
          <a:bodyPr anchor="t" rtlCol="false" tIns="0" lIns="0" bIns="0" rIns="0">
            <a:spAutoFit/>
          </a:bodyPr>
          <a:lstStyle/>
          <a:p>
            <a:pPr algn="just" marL="0" indent="0" lvl="1">
              <a:lnSpc>
                <a:spcPts val="3499"/>
              </a:lnSpc>
              <a:spcBef>
                <a:spcPct val="0"/>
              </a:spcBef>
            </a:pPr>
            <a:r>
              <a:rPr lang="en-US" sz="2499">
                <a:solidFill>
                  <a:srgbClr val="04223C"/>
                </a:solidFill>
                <a:latin typeface="Nourd"/>
                <a:ea typeface="Nourd"/>
                <a:cs typeface="Nourd"/>
                <a:sym typeface="Nourd"/>
              </a:rPr>
              <a:t>Antivirus systems employ three main detection strategies: static, behavioral, and hybrid. Static signature-based detection compares code or hash patterns against known malware. Behavior-based detection monitors runtime actions such as file or network changes. Hybrid detection merges both methods to improve accuracy at the cost of higher computational resources.</a:t>
            </a:r>
          </a:p>
        </p:txBody>
      </p:sp>
      <p:sp>
        <p:nvSpPr>
          <p:cNvPr name="TextBox 26" id="26"/>
          <p:cNvSpPr txBox="true"/>
          <p:nvPr/>
        </p:nvSpPr>
        <p:spPr>
          <a:xfrm rot="0">
            <a:off x="3594814" y="3085046"/>
            <a:ext cx="805739" cy="596901"/>
          </a:xfrm>
          <a:prstGeom prst="rect">
            <a:avLst/>
          </a:prstGeom>
        </p:spPr>
        <p:txBody>
          <a:bodyPr anchor="t" rtlCol="false" tIns="0" lIns="0" bIns="0" rIns="0">
            <a:spAutoFit/>
          </a:bodyPr>
          <a:lstStyle/>
          <a:p>
            <a:pPr algn="ctr">
              <a:lnSpc>
                <a:spcPts val="4899"/>
              </a:lnSpc>
            </a:pPr>
            <a:r>
              <a:rPr lang="en-US" b="true" sz="3499">
                <a:solidFill>
                  <a:srgbClr val="04223C"/>
                </a:solidFill>
                <a:latin typeface="Nourd Bold"/>
                <a:ea typeface="Nourd Bold"/>
                <a:cs typeface="Nourd Bold"/>
                <a:sym typeface="Nourd Bold"/>
              </a:rPr>
              <a:t>1</a:t>
            </a:r>
          </a:p>
        </p:txBody>
      </p:sp>
      <p:sp>
        <p:nvSpPr>
          <p:cNvPr name="Freeform 27" id="27"/>
          <p:cNvSpPr/>
          <p:nvPr/>
        </p:nvSpPr>
        <p:spPr>
          <a:xfrm flipH="true" flipV="true" rot="0">
            <a:off x="10835556" y="2914105"/>
            <a:ext cx="805739" cy="1005457"/>
          </a:xfrm>
          <a:custGeom>
            <a:avLst/>
            <a:gdLst/>
            <a:ahLst/>
            <a:cxnLst/>
            <a:rect r="r" b="b" t="t" l="l"/>
            <a:pathLst>
              <a:path h="1005457" w="805739">
                <a:moveTo>
                  <a:pt x="805739" y="1005457"/>
                </a:moveTo>
                <a:lnTo>
                  <a:pt x="0" y="1005457"/>
                </a:lnTo>
                <a:lnTo>
                  <a:pt x="0" y="0"/>
                </a:lnTo>
                <a:lnTo>
                  <a:pt x="805739" y="0"/>
                </a:lnTo>
                <a:lnTo>
                  <a:pt x="805739" y="1005457"/>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8" id="28"/>
          <p:cNvSpPr txBox="true"/>
          <p:nvPr/>
        </p:nvSpPr>
        <p:spPr>
          <a:xfrm rot="0">
            <a:off x="10835556" y="3085046"/>
            <a:ext cx="805739" cy="596901"/>
          </a:xfrm>
          <a:prstGeom prst="rect">
            <a:avLst/>
          </a:prstGeom>
        </p:spPr>
        <p:txBody>
          <a:bodyPr anchor="t" rtlCol="false" tIns="0" lIns="0" bIns="0" rIns="0">
            <a:spAutoFit/>
          </a:bodyPr>
          <a:lstStyle/>
          <a:p>
            <a:pPr algn="ctr">
              <a:lnSpc>
                <a:spcPts val="4899"/>
              </a:lnSpc>
            </a:pPr>
            <a:r>
              <a:rPr lang="en-US" b="true" sz="3499">
                <a:solidFill>
                  <a:srgbClr val="04223C"/>
                </a:solidFill>
                <a:latin typeface="Nourd Bold"/>
                <a:ea typeface="Nourd Bold"/>
                <a:cs typeface="Nourd Bold"/>
                <a:sym typeface="Nourd Bold"/>
              </a:rPr>
              <a:t>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3451814" y="2646567"/>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3451814" y="5480210"/>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3759899" y="2914571"/>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5400000">
            <a:off x="-3759899" y="5748214"/>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0800000">
            <a:off x="-312917" y="1711428"/>
            <a:ext cx="1883948" cy="1883948"/>
          </a:xfrm>
          <a:custGeom>
            <a:avLst/>
            <a:gdLst/>
            <a:ahLst/>
            <a:cxnLst/>
            <a:rect r="r" b="b" t="t" l="l"/>
            <a:pathLst>
              <a:path h="1883948" w="1883948">
                <a:moveTo>
                  <a:pt x="0" y="0"/>
                </a:moveTo>
                <a:lnTo>
                  <a:pt x="1883948" y="0"/>
                </a:lnTo>
                <a:lnTo>
                  <a:pt x="1883948" y="1883948"/>
                </a:lnTo>
                <a:lnTo>
                  <a:pt x="0" y="18839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5400000">
            <a:off x="1738434" y="1711428"/>
            <a:ext cx="1202677" cy="1202677"/>
          </a:xfrm>
          <a:custGeom>
            <a:avLst/>
            <a:gdLst/>
            <a:ahLst/>
            <a:cxnLst/>
            <a:rect r="r" b="b" t="t" l="l"/>
            <a:pathLst>
              <a:path h="1202677" w="1202677">
                <a:moveTo>
                  <a:pt x="0" y="0"/>
                </a:moveTo>
                <a:lnTo>
                  <a:pt x="1202676" y="0"/>
                </a:lnTo>
                <a:lnTo>
                  <a:pt x="1202676" y="1202677"/>
                </a:lnTo>
                <a:lnTo>
                  <a:pt x="0" y="12026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10800000">
            <a:off x="1706937" y="425887"/>
            <a:ext cx="1168661" cy="1168661"/>
          </a:xfrm>
          <a:custGeom>
            <a:avLst/>
            <a:gdLst/>
            <a:ahLst/>
            <a:cxnLst/>
            <a:rect r="r" b="b" t="t" l="l"/>
            <a:pathLst>
              <a:path h="1168661" w="1168661">
                <a:moveTo>
                  <a:pt x="0" y="0"/>
                </a:moveTo>
                <a:lnTo>
                  <a:pt x="1168660" y="0"/>
                </a:lnTo>
                <a:lnTo>
                  <a:pt x="1168660" y="1168661"/>
                </a:lnTo>
                <a:lnTo>
                  <a:pt x="0" y="11686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5494193">
            <a:off x="-288851" y="-317006"/>
            <a:ext cx="1886072" cy="1886072"/>
          </a:xfrm>
          <a:custGeom>
            <a:avLst/>
            <a:gdLst/>
            <a:ahLst/>
            <a:cxnLst/>
            <a:rect r="r" b="b" t="t" l="l"/>
            <a:pathLst>
              <a:path h="1886072" w="1886072">
                <a:moveTo>
                  <a:pt x="0" y="0"/>
                </a:moveTo>
                <a:lnTo>
                  <a:pt x="1886071" y="0"/>
                </a:lnTo>
                <a:lnTo>
                  <a:pt x="1886071" y="1886072"/>
                </a:lnTo>
                <a:lnTo>
                  <a:pt x="0" y="18860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10800000">
            <a:off x="2875597" y="9336132"/>
            <a:ext cx="4888040" cy="1015888"/>
          </a:xfrm>
          <a:custGeom>
            <a:avLst/>
            <a:gdLst/>
            <a:ahLst/>
            <a:cxnLst/>
            <a:rect r="r" b="b" t="t" l="l"/>
            <a:pathLst>
              <a:path h="1015888" w="4888040">
                <a:moveTo>
                  <a:pt x="0" y="0"/>
                </a:moveTo>
                <a:lnTo>
                  <a:pt x="4888041" y="0"/>
                </a:lnTo>
                <a:lnTo>
                  <a:pt x="4888041"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10800000">
            <a:off x="7782688" y="9337492"/>
            <a:ext cx="4888040" cy="1015888"/>
          </a:xfrm>
          <a:custGeom>
            <a:avLst/>
            <a:gdLst/>
            <a:ahLst/>
            <a:cxnLst/>
            <a:rect r="r" b="b" t="t" l="l"/>
            <a:pathLst>
              <a:path h="1015888" w="4888040">
                <a:moveTo>
                  <a:pt x="0" y="0"/>
                </a:moveTo>
                <a:lnTo>
                  <a:pt x="4888040" y="0"/>
                </a:lnTo>
                <a:lnTo>
                  <a:pt x="4888040"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10800000">
            <a:off x="12689778" y="9338853"/>
            <a:ext cx="4888040" cy="1015888"/>
          </a:xfrm>
          <a:custGeom>
            <a:avLst/>
            <a:gdLst/>
            <a:ahLst/>
            <a:cxnLst/>
            <a:rect r="r" b="b" t="t" l="l"/>
            <a:pathLst>
              <a:path h="1015888" w="4888040">
                <a:moveTo>
                  <a:pt x="0" y="0"/>
                </a:moveTo>
                <a:lnTo>
                  <a:pt x="4888040" y="0"/>
                </a:lnTo>
                <a:lnTo>
                  <a:pt x="4888040"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grpSp>
        <p:nvGrpSpPr>
          <p:cNvPr name="Group 13" id="13"/>
          <p:cNvGrpSpPr/>
          <p:nvPr/>
        </p:nvGrpSpPr>
        <p:grpSpPr>
          <a:xfrm rot="0">
            <a:off x="2875597" y="9127948"/>
            <a:ext cx="15731854" cy="1880081"/>
            <a:chOff x="0" y="0"/>
            <a:chExt cx="4143369" cy="495165"/>
          </a:xfrm>
        </p:grpSpPr>
        <p:sp>
          <p:nvSpPr>
            <p:cNvPr name="Freeform 14" id="14"/>
            <p:cNvSpPr/>
            <p:nvPr/>
          </p:nvSpPr>
          <p:spPr>
            <a:xfrm flipH="false" flipV="false" rot="0">
              <a:off x="0" y="0"/>
              <a:ext cx="4143369" cy="495165"/>
            </a:xfrm>
            <a:custGeom>
              <a:avLst/>
              <a:gdLst/>
              <a:ahLst/>
              <a:cxnLst/>
              <a:rect r="r" b="b" t="t" l="l"/>
              <a:pathLst>
                <a:path h="495165" w="4143369">
                  <a:moveTo>
                    <a:pt x="0" y="0"/>
                  </a:moveTo>
                  <a:lnTo>
                    <a:pt x="4143369" y="0"/>
                  </a:lnTo>
                  <a:lnTo>
                    <a:pt x="4143369" y="495165"/>
                  </a:lnTo>
                  <a:lnTo>
                    <a:pt x="0" y="495165"/>
                  </a:lnTo>
                  <a:close/>
                </a:path>
              </a:pathLst>
            </a:custGeom>
            <a:gradFill rotWithShape="true">
              <a:gsLst>
                <a:gs pos="0">
                  <a:srgbClr val="FFFFFF">
                    <a:alpha val="100000"/>
                  </a:srgbClr>
                </a:gs>
                <a:gs pos="33333">
                  <a:srgbClr val="FFFFFF">
                    <a:alpha val="71000"/>
                  </a:srgbClr>
                </a:gs>
                <a:gs pos="66667">
                  <a:srgbClr val="FFFFFF">
                    <a:alpha val="54000"/>
                  </a:srgbClr>
                </a:gs>
                <a:gs pos="100000">
                  <a:srgbClr val="FFFFFF">
                    <a:alpha val="21500"/>
                  </a:srgbClr>
                </a:gs>
              </a:gsLst>
              <a:lin ang="5400000"/>
            </a:gradFill>
          </p:spPr>
        </p:sp>
        <p:sp>
          <p:nvSpPr>
            <p:cNvPr name="TextBox 15" id="15"/>
            <p:cNvSpPr txBox="true"/>
            <p:nvPr/>
          </p:nvSpPr>
          <p:spPr>
            <a:xfrm>
              <a:off x="0" y="-38100"/>
              <a:ext cx="4143369" cy="533265"/>
            </a:xfrm>
            <a:prstGeom prst="rect">
              <a:avLst/>
            </a:prstGeom>
          </p:spPr>
          <p:txBody>
            <a:bodyPr anchor="ctr" rtlCol="false" tIns="50800" lIns="50800" bIns="50800" rIns="50800"/>
            <a:lstStyle/>
            <a:p>
              <a:pPr algn="ctr">
                <a:lnSpc>
                  <a:spcPts val="2078"/>
                </a:lnSpc>
              </a:pPr>
            </a:p>
          </p:txBody>
        </p:sp>
      </p:grpSp>
      <p:sp>
        <p:nvSpPr>
          <p:cNvPr name="Freeform 16" id="16"/>
          <p:cNvSpPr/>
          <p:nvPr/>
        </p:nvSpPr>
        <p:spPr>
          <a:xfrm flipH="false" flipV="false" rot="-10800000">
            <a:off x="10116522" y="9222171"/>
            <a:ext cx="9281250" cy="4640625"/>
          </a:xfrm>
          <a:custGeom>
            <a:avLst/>
            <a:gdLst/>
            <a:ahLst/>
            <a:cxnLst/>
            <a:rect r="r" b="b" t="t" l="l"/>
            <a:pathLst>
              <a:path h="4640625" w="9281250">
                <a:moveTo>
                  <a:pt x="0" y="0"/>
                </a:moveTo>
                <a:lnTo>
                  <a:pt x="9281250" y="0"/>
                </a:lnTo>
                <a:lnTo>
                  <a:pt x="9281250" y="4640625"/>
                </a:lnTo>
                <a:lnTo>
                  <a:pt x="0" y="46406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false" rot="-10800000">
            <a:off x="971550" y="-3324521"/>
            <a:ext cx="7334017" cy="3667009"/>
          </a:xfrm>
          <a:custGeom>
            <a:avLst/>
            <a:gdLst/>
            <a:ahLst/>
            <a:cxnLst/>
            <a:rect r="r" b="b" t="t" l="l"/>
            <a:pathLst>
              <a:path h="3667009" w="7334017">
                <a:moveTo>
                  <a:pt x="7334017" y="0"/>
                </a:moveTo>
                <a:lnTo>
                  <a:pt x="0" y="0"/>
                </a:lnTo>
                <a:lnTo>
                  <a:pt x="0" y="3667009"/>
                </a:lnTo>
                <a:lnTo>
                  <a:pt x="7334017" y="3667009"/>
                </a:lnTo>
                <a:lnTo>
                  <a:pt x="7334017"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8" id="18"/>
          <p:cNvGrpSpPr/>
          <p:nvPr/>
        </p:nvGrpSpPr>
        <p:grpSpPr>
          <a:xfrm rot="-10800000">
            <a:off x="8268687" y="-342488"/>
            <a:ext cx="10923063" cy="684975"/>
            <a:chOff x="0" y="0"/>
            <a:chExt cx="2891335" cy="181313"/>
          </a:xfrm>
        </p:grpSpPr>
        <p:sp>
          <p:nvSpPr>
            <p:cNvPr name="Freeform 19" id="19"/>
            <p:cNvSpPr/>
            <p:nvPr/>
          </p:nvSpPr>
          <p:spPr>
            <a:xfrm flipH="false" flipV="false" rot="0">
              <a:off x="0" y="0"/>
              <a:ext cx="2891335" cy="181313"/>
            </a:xfrm>
            <a:custGeom>
              <a:avLst/>
              <a:gdLst/>
              <a:ahLst/>
              <a:cxnLst/>
              <a:rect r="r" b="b" t="t" l="l"/>
              <a:pathLst>
                <a:path h="181313" w="2891335">
                  <a:moveTo>
                    <a:pt x="0" y="0"/>
                  </a:moveTo>
                  <a:lnTo>
                    <a:pt x="2891335" y="0"/>
                  </a:lnTo>
                  <a:lnTo>
                    <a:pt x="2891335" y="181313"/>
                  </a:lnTo>
                  <a:lnTo>
                    <a:pt x="0" y="181313"/>
                  </a:lnTo>
                  <a:close/>
                </a:path>
              </a:pathLst>
            </a:custGeom>
            <a:solidFill>
              <a:srgbClr val="04223C"/>
            </a:solidFill>
          </p:spPr>
        </p:sp>
        <p:sp>
          <p:nvSpPr>
            <p:cNvPr name="TextBox 20" id="20"/>
            <p:cNvSpPr txBox="true"/>
            <p:nvPr/>
          </p:nvSpPr>
          <p:spPr>
            <a:xfrm>
              <a:off x="0" y="-38100"/>
              <a:ext cx="2891335" cy="219413"/>
            </a:xfrm>
            <a:prstGeom prst="rect">
              <a:avLst/>
            </a:prstGeom>
          </p:spPr>
          <p:txBody>
            <a:bodyPr anchor="ctr" rtlCol="false" tIns="48876" lIns="48876" bIns="48876" rIns="48876"/>
            <a:lstStyle/>
            <a:p>
              <a:pPr algn="ctr">
                <a:lnSpc>
                  <a:spcPts val="2078"/>
                </a:lnSpc>
              </a:pPr>
            </a:p>
          </p:txBody>
        </p:sp>
      </p:grpSp>
      <p:sp>
        <p:nvSpPr>
          <p:cNvPr name="Freeform 21" id="21"/>
          <p:cNvSpPr/>
          <p:nvPr/>
        </p:nvSpPr>
        <p:spPr>
          <a:xfrm flipH="false" flipV="true" rot="0">
            <a:off x="3393570" y="2653402"/>
            <a:ext cx="698354" cy="698354"/>
          </a:xfrm>
          <a:custGeom>
            <a:avLst/>
            <a:gdLst/>
            <a:ahLst/>
            <a:cxnLst/>
            <a:rect r="r" b="b" t="t" l="l"/>
            <a:pathLst>
              <a:path h="698354" w="698354">
                <a:moveTo>
                  <a:pt x="0" y="698354"/>
                </a:moveTo>
                <a:lnTo>
                  <a:pt x="698355" y="698354"/>
                </a:lnTo>
                <a:lnTo>
                  <a:pt x="698355" y="0"/>
                </a:lnTo>
                <a:lnTo>
                  <a:pt x="0" y="0"/>
                </a:lnTo>
                <a:lnTo>
                  <a:pt x="0" y="698354"/>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22" id="22"/>
          <p:cNvSpPr/>
          <p:nvPr/>
        </p:nvSpPr>
        <p:spPr>
          <a:xfrm flipH="true" flipV="true" rot="0">
            <a:off x="16774807" y="4667927"/>
            <a:ext cx="698354" cy="698354"/>
          </a:xfrm>
          <a:custGeom>
            <a:avLst/>
            <a:gdLst/>
            <a:ahLst/>
            <a:cxnLst/>
            <a:rect r="r" b="b" t="t" l="l"/>
            <a:pathLst>
              <a:path h="698354" w="698354">
                <a:moveTo>
                  <a:pt x="698354" y="698355"/>
                </a:moveTo>
                <a:lnTo>
                  <a:pt x="0" y="698355"/>
                </a:lnTo>
                <a:lnTo>
                  <a:pt x="0" y="0"/>
                </a:lnTo>
                <a:lnTo>
                  <a:pt x="698354" y="0"/>
                </a:lnTo>
                <a:lnTo>
                  <a:pt x="698354" y="698355"/>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23" id="23"/>
          <p:cNvSpPr/>
          <p:nvPr/>
        </p:nvSpPr>
        <p:spPr>
          <a:xfrm flipH="false" flipV="true" rot="0">
            <a:off x="3393570" y="7438848"/>
            <a:ext cx="698354" cy="698354"/>
          </a:xfrm>
          <a:custGeom>
            <a:avLst/>
            <a:gdLst/>
            <a:ahLst/>
            <a:cxnLst/>
            <a:rect r="r" b="b" t="t" l="l"/>
            <a:pathLst>
              <a:path h="698354" w="698354">
                <a:moveTo>
                  <a:pt x="0" y="698354"/>
                </a:moveTo>
                <a:lnTo>
                  <a:pt x="698355" y="698354"/>
                </a:lnTo>
                <a:lnTo>
                  <a:pt x="698355" y="0"/>
                </a:lnTo>
                <a:lnTo>
                  <a:pt x="0" y="0"/>
                </a:lnTo>
                <a:lnTo>
                  <a:pt x="0" y="698354"/>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sp>
        <p:nvSpPr>
          <p:cNvPr name="Freeform 24" id="24"/>
          <p:cNvSpPr/>
          <p:nvPr/>
        </p:nvSpPr>
        <p:spPr>
          <a:xfrm flipH="true" flipV="true" rot="-5400000">
            <a:off x="14571437" y="3122542"/>
            <a:ext cx="1254053" cy="1282685"/>
          </a:xfrm>
          <a:custGeom>
            <a:avLst/>
            <a:gdLst/>
            <a:ahLst/>
            <a:cxnLst/>
            <a:rect r="r" b="b" t="t" l="l"/>
            <a:pathLst>
              <a:path h="1282685" w="1254053">
                <a:moveTo>
                  <a:pt x="1254054" y="1282685"/>
                </a:moveTo>
                <a:lnTo>
                  <a:pt x="0" y="1282685"/>
                </a:lnTo>
                <a:lnTo>
                  <a:pt x="0" y="0"/>
                </a:lnTo>
                <a:lnTo>
                  <a:pt x="1254054" y="0"/>
                </a:lnTo>
                <a:lnTo>
                  <a:pt x="1254054" y="1282685"/>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5" id="25"/>
          <p:cNvSpPr txBox="true"/>
          <p:nvPr/>
        </p:nvSpPr>
        <p:spPr>
          <a:xfrm rot="0">
            <a:off x="4091925" y="1224570"/>
            <a:ext cx="13032059" cy="1152525"/>
          </a:xfrm>
          <a:prstGeom prst="rect">
            <a:avLst/>
          </a:prstGeom>
        </p:spPr>
        <p:txBody>
          <a:bodyPr anchor="t" rtlCol="false" tIns="0" lIns="0" bIns="0" rIns="0">
            <a:spAutoFit/>
          </a:bodyPr>
          <a:lstStyle/>
          <a:p>
            <a:pPr algn="l">
              <a:lnSpc>
                <a:spcPts val="9150"/>
              </a:lnSpc>
            </a:pPr>
            <a:r>
              <a:rPr lang="en-US" sz="7500" b="true">
                <a:solidFill>
                  <a:srgbClr val="40A8CD"/>
                </a:solidFill>
                <a:latin typeface="Nourd Bold"/>
                <a:ea typeface="Nourd Bold"/>
                <a:cs typeface="Nourd Bold"/>
                <a:sym typeface="Nourd Bold"/>
              </a:rPr>
              <a:t>Proposed Methodology</a:t>
            </a:r>
          </a:p>
        </p:txBody>
      </p:sp>
      <p:sp>
        <p:nvSpPr>
          <p:cNvPr name="TextBox 26" id="26"/>
          <p:cNvSpPr txBox="true"/>
          <p:nvPr/>
        </p:nvSpPr>
        <p:spPr>
          <a:xfrm rot="0">
            <a:off x="8918605" y="9545467"/>
            <a:ext cx="8822879" cy="422275"/>
          </a:xfrm>
          <a:prstGeom prst="rect">
            <a:avLst/>
          </a:prstGeom>
        </p:spPr>
        <p:txBody>
          <a:bodyPr anchor="t" rtlCol="false" tIns="0" lIns="0" bIns="0" rIns="0">
            <a:spAutoFit/>
          </a:bodyPr>
          <a:lstStyle/>
          <a:p>
            <a:pPr algn="r">
              <a:lnSpc>
                <a:spcPts val="3499"/>
              </a:lnSpc>
            </a:pPr>
            <a:r>
              <a:rPr lang="en-US" sz="2499">
                <a:solidFill>
                  <a:srgbClr val="4E4E4E"/>
                </a:solidFill>
                <a:latin typeface="Nourd"/>
                <a:ea typeface="Nourd"/>
                <a:cs typeface="Nourd"/>
                <a:sym typeface="Nourd"/>
              </a:rPr>
              <a:t>ICoDSE | 2025</a:t>
            </a:r>
          </a:p>
        </p:txBody>
      </p:sp>
      <p:sp>
        <p:nvSpPr>
          <p:cNvPr name="TextBox 27" id="27"/>
          <p:cNvSpPr txBox="true"/>
          <p:nvPr/>
        </p:nvSpPr>
        <p:spPr>
          <a:xfrm rot="0">
            <a:off x="4414499" y="2605777"/>
            <a:ext cx="9609223" cy="2174875"/>
          </a:xfrm>
          <a:prstGeom prst="rect">
            <a:avLst/>
          </a:prstGeom>
        </p:spPr>
        <p:txBody>
          <a:bodyPr anchor="t" rtlCol="false" tIns="0" lIns="0" bIns="0" rIns="0">
            <a:spAutoFit/>
          </a:bodyPr>
          <a:lstStyle/>
          <a:p>
            <a:pPr algn="just">
              <a:lnSpc>
                <a:spcPts val="3499"/>
              </a:lnSpc>
            </a:pPr>
            <a:r>
              <a:rPr lang="en-US" sz="2499">
                <a:solidFill>
                  <a:srgbClr val="04223C"/>
                </a:solidFill>
                <a:latin typeface="Nourd"/>
                <a:ea typeface="Nourd"/>
                <a:cs typeface="Nourd"/>
                <a:sym typeface="Nourd"/>
              </a:rPr>
              <a:t>Develop a controlled crypto-ransomware testbed consisting of an encryptor and decryptor written in C++ and executed in an isolated Windows 11 Pro virtual machine. Begin with a simple baseline encryptor to establish reference metrics for detection and performance before introducing advanced </a:t>
            </a:r>
          </a:p>
        </p:txBody>
      </p:sp>
      <p:sp>
        <p:nvSpPr>
          <p:cNvPr name="TextBox 28" id="28"/>
          <p:cNvSpPr txBox="true"/>
          <p:nvPr/>
        </p:nvSpPr>
        <p:spPr>
          <a:xfrm rot="0">
            <a:off x="7221142" y="5103049"/>
            <a:ext cx="9312357" cy="1736725"/>
          </a:xfrm>
          <a:prstGeom prst="rect">
            <a:avLst/>
          </a:prstGeom>
        </p:spPr>
        <p:txBody>
          <a:bodyPr anchor="t" rtlCol="false" tIns="0" lIns="0" bIns="0" rIns="0">
            <a:spAutoFit/>
          </a:bodyPr>
          <a:lstStyle/>
          <a:p>
            <a:pPr algn="just">
              <a:lnSpc>
                <a:spcPts val="3499"/>
              </a:lnSpc>
            </a:pPr>
            <a:r>
              <a:rPr lang="en-US" sz="2499">
                <a:solidFill>
                  <a:srgbClr val="04223C"/>
                </a:solidFill>
                <a:latin typeface="Nourd"/>
                <a:ea typeface="Nourd"/>
                <a:cs typeface="Nourd"/>
                <a:sym typeface="Nourd"/>
              </a:rPr>
              <a:t>Enhance the encryptor with four adjustable parameters, namely encryption threads, file-reading method, encryption coverage, and algorithm choice (CryptoAPI or manual AES) to test different detection scenarios.</a:t>
            </a:r>
          </a:p>
        </p:txBody>
      </p:sp>
      <p:sp>
        <p:nvSpPr>
          <p:cNvPr name="TextBox 29" id="29"/>
          <p:cNvSpPr txBox="true"/>
          <p:nvPr/>
        </p:nvSpPr>
        <p:spPr>
          <a:xfrm rot="0">
            <a:off x="4414499" y="7391223"/>
            <a:ext cx="9609223" cy="1298575"/>
          </a:xfrm>
          <a:prstGeom prst="rect">
            <a:avLst/>
          </a:prstGeom>
        </p:spPr>
        <p:txBody>
          <a:bodyPr anchor="t" rtlCol="false" tIns="0" lIns="0" bIns="0" rIns="0">
            <a:spAutoFit/>
          </a:bodyPr>
          <a:lstStyle/>
          <a:p>
            <a:pPr algn="just">
              <a:lnSpc>
                <a:spcPts val="3499"/>
              </a:lnSpc>
            </a:pPr>
            <a:r>
              <a:rPr lang="en-US" sz="2499">
                <a:solidFill>
                  <a:srgbClr val="04223C"/>
                </a:solidFill>
                <a:latin typeface="Nourd"/>
                <a:ea typeface="Nourd"/>
                <a:cs typeface="Nourd"/>
                <a:sym typeface="Nourd"/>
              </a:rPr>
              <a:t>A dedicated decryptor ensures all files can be safely restored after testing. The setup remains fully isolated, with no exposure to real data or live systems, and no executables publicly released.</a:t>
            </a:r>
          </a:p>
        </p:txBody>
      </p:sp>
      <p:sp>
        <p:nvSpPr>
          <p:cNvPr name="Freeform 30" id="30"/>
          <p:cNvSpPr/>
          <p:nvPr/>
        </p:nvSpPr>
        <p:spPr>
          <a:xfrm flipH="true" flipV="false" rot="-5400000">
            <a:off x="4692591" y="5438197"/>
            <a:ext cx="1254053" cy="1282685"/>
          </a:xfrm>
          <a:custGeom>
            <a:avLst/>
            <a:gdLst/>
            <a:ahLst/>
            <a:cxnLst/>
            <a:rect r="r" b="b" t="t" l="l"/>
            <a:pathLst>
              <a:path h="1282685" w="1254053">
                <a:moveTo>
                  <a:pt x="1254053" y="0"/>
                </a:moveTo>
                <a:lnTo>
                  <a:pt x="0" y="0"/>
                </a:lnTo>
                <a:lnTo>
                  <a:pt x="0" y="1282684"/>
                </a:lnTo>
                <a:lnTo>
                  <a:pt x="1254053" y="1282684"/>
                </a:lnTo>
                <a:lnTo>
                  <a:pt x="1254053"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3451814" y="2646567"/>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3451814" y="5480210"/>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3759899" y="2914571"/>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5400000">
            <a:off x="-3759899" y="5748214"/>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0800000">
            <a:off x="-312917" y="1711428"/>
            <a:ext cx="1883948" cy="1883948"/>
          </a:xfrm>
          <a:custGeom>
            <a:avLst/>
            <a:gdLst/>
            <a:ahLst/>
            <a:cxnLst/>
            <a:rect r="r" b="b" t="t" l="l"/>
            <a:pathLst>
              <a:path h="1883948" w="1883948">
                <a:moveTo>
                  <a:pt x="0" y="0"/>
                </a:moveTo>
                <a:lnTo>
                  <a:pt x="1883948" y="0"/>
                </a:lnTo>
                <a:lnTo>
                  <a:pt x="1883948" y="1883948"/>
                </a:lnTo>
                <a:lnTo>
                  <a:pt x="0" y="18839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5400000">
            <a:off x="1738434" y="1711428"/>
            <a:ext cx="1202677" cy="1202677"/>
          </a:xfrm>
          <a:custGeom>
            <a:avLst/>
            <a:gdLst/>
            <a:ahLst/>
            <a:cxnLst/>
            <a:rect r="r" b="b" t="t" l="l"/>
            <a:pathLst>
              <a:path h="1202677" w="1202677">
                <a:moveTo>
                  <a:pt x="0" y="0"/>
                </a:moveTo>
                <a:lnTo>
                  <a:pt x="1202676" y="0"/>
                </a:lnTo>
                <a:lnTo>
                  <a:pt x="1202676" y="1202677"/>
                </a:lnTo>
                <a:lnTo>
                  <a:pt x="0" y="12026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10800000">
            <a:off x="1706937" y="425887"/>
            <a:ext cx="1168661" cy="1168661"/>
          </a:xfrm>
          <a:custGeom>
            <a:avLst/>
            <a:gdLst/>
            <a:ahLst/>
            <a:cxnLst/>
            <a:rect r="r" b="b" t="t" l="l"/>
            <a:pathLst>
              <a:path h="1168661" w="1168661">
                <a:moveTo>
                  <a:pt x="0" y="0"/>
                </a:moveTo>
                <a:lnTo>
                  <a:pt x="1168660" y="0"/>
                </a:lnTo>
                <a:lnTo>
                  <a:pt x="1168660" y="1168661"/>
                </a:lnTo>
                <a:lnTo>
                  <a:pt x="0" y="11686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5494193">
            <a:off x="-288851" y="-317006"/>
            <a:ext cx="1886072" cy="1886072"/>
          </a:xfrm>
          <a:custGeom>
            <a:avLst/>
            <a:gdLst/>
            <a:ahLst/>
            <a:cxnLst/>
            <a:rect r="r" b="b" t="t" l="l"/>
            <a:pathLst>
              <a:path h="1886072" w="1886072">
                <a:moveTo>
                  <a:pt x="0" y="0"/>
                </a:moveTo>
                <a:lnTo>
                  <a:pt x="1886071" y="0"/>
                </a:lnTo>
                <a:lnTo>
                  <a:pt x="1886071" y="1886072"/>
                </a:lnTo>
                <a:lnTo>
                  <a:pt x="0" y="18860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10800000">
            <a:off x="2875597" y="9336132"/>
            <a:ext cx="4888040" cy="1015888"/>
          </a:xfrm>
          <a:custGeom>
            <a:avLst/>
            <a:gdLst/>
            <a:ahLst/>
            <a:cxnLst/>
            <a:rect r="r" b="b" t="t" l="l"/>
            <a:pathLst>
              <a:path h="1015888" w="4888040">
                <a:moveTo>
                  <a:pt x="0" y="0"/>
                </a:moveTo>
                <a:lnTo>
                  <a:pt x="4888041" y="0"/>
                </a:lnTo>
                <a:lnTo>
                  <a:pt x="4888041"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10800000">
            <a:off x="7782688" y="9337492"/>
            <a:ext cx="4888040" cy="1015888"/>
          </a:xfrm>
          <a:custGeom>
            <a:avLst/>
            <a:gdLst/>
            <a:ahLst/>
            <a:cxnLst/>
            <a:rect r="r" b="b" t="t" l="l"/>
            <a:pathLst>
              <a:path h="1015888" w="4888040">
                <a:moveTo>
                  <a:pt x="0" y="0"/>
                </a:moveTo>
                <a:lnTo>
                  <a:pt x="4888040" y="0"/>
                </a:lnTo>
                <a:lnTo>
                  <a:pt x="4888040"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10800000">
            <a:off x="12689778" y="9338853"/>
            <a:ext cx="4888040" cy="1015888"/>
          </a:xfrm>
          <a:custGeom>
            <a:avLst/>
            <a:gdLst/>
            <a:ahLst/>
            <a:cxnLst/>
            <a:rect r="r" b="b" t="t" l="l"/>
            <a:pathLst>
              <a:path h="1015888" w="4888040">
                <a:moveTo>
                  <a:pt x="0" y="0"/>
                </a:moveTo>
                <a:lnTo>
                  <a:pt x="4888040" y="0"/>
                </a:lnTo>
                <a:lnTo>
                  <a:pt x="4888040"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grpSp>
        <p:nvGrpSpPr>
          <p:cNvPr name="Group 13" id="13"/>
          <p:cNvGrpSpPr/>
          <p:nvPr/>
        </p:nvGrpSpPr>
        <p:grpSpPr>
          <a:xfrm rot="0">
            <a:off x="2875597" y="9127948"/>
            <a:ext cx="15731854" cy="1880081"/>
            <a:chOff x="0" y="0"/>
            <a:chExt cx="4143369" cy="495165"/>
          </a:xfrm>
        </p:grpSpPr>
        <p:sp>
          <p:nvSpPr>
            <p:cNvPr name="Freeform 14" id="14"/>
            <p:cNvSpPr/>
            <p:nvPr/>
          </p:nvSpPr>
          <p:spPr>
            <a:xfrm flipH="false" flipV="false" rot="0">
              <a:off x="0" y="0"/>
              <a:ext cx="4143369" cy="495165"/>
            </a:xfrm>
            <a:custGeom>
              <a:avLst/>
              <a:gdLst/>
              <a:ahLst/>
              <a:cxnLst/>
              <a:rect r="r" b="b" t="t" l="l"/>
              <a:pathLst>
                <a:path h="495165" w="4143369">
                  <a:moveTo>
                    <a:pt x="0" y="0"/>
                  </a:moveTo>
                  <a:lnTo>
                    <a:pt x="4143369" y="0"/>
                  </a:lnTo>
                  <a:lnTo>
                    <a:pt x="4143369" y="495165"/>
                  </a:lnTo>
                  <a:lnTo>
                    <a:pt x="0" y="495165"/>
                  </a:lnTo>
                  <a:close/>
                </a:path>
              </a:pathLst>
            </a:custGeom>
            <a:gradFill rotWithShape="true">
              <a:gsLst>
                <a:gs pos="0">
                  <a:srgbClr val="FFFFFF">
                    <a:alpha val="100000"/>
                  </a:srgbClr>
                </a:gs>
                <a:gs pos="33333">
                  <a:srgbClr val="FFFFFF">
                    <a:alpha val="71000"/>
                  </a:srgbClr>
                </a:gs>
                <a:gs pos="66667">
                  <a:srgbClr val="FFFFFF">
                    <a:alpha val="54000"/>
                  </a:srgbClr>
                </a:gs>
                <a:gs pos="100000">
                  <a:srgbClr val="FFFFFF">
                    <a:alpha val="21500"/>
                  </a:srgbClr>
                </a:gs>
              </a:gsLst>
              <a:lin ang="5400000"/>
            </a:gradFill>
          </p:spPr>
        </p:sp>
        <p:sp>
          <p:nvSpPr>
            <p:cNvPr name="TextBox 15" id="15"/>
            <p:cNvSpPr txBox="true"/>
            <p:nvPr/>
          </p:nvSpPr>
          <p:spPr>
            <a:xfrm>
              <a:off x="0" y="-38100"/>
              <a:ext cx="4143369" cy="533265"/>
            </a:xfrm>
            <a:prstGeom prst="rect">
              <a:avLst/>
            </a:prstGeom>
          </p:spPr>
          <p:txBody>
            <a:bodyPr anchor="ctr" rtlCol="false" tIns="50800" lIns="50800" bIns="50800" rIns="50800"/>
            <a:lstStyle/>
            <a:p>
              <a:pPr algn="ctr">
                <a:lnSpc>
                  <a:spcPts val="2078"/>
                </a:lnSpc>
              </a:pPr>
            </a:p>
          </p:txBody>
        </p:sp>
      </p:grpSp>
      <p:sp>
        <p:nvSpPr>
          <p:cNvPr name="Freeform 16" id="16"/>
          <p:cNvSpPr/>
          <p:nvPr/>
        </p:nvSpPr>
        <p:spPr>
          <a:xfrm flipH="false" flipV="false" rot="-10800000">
            <a:off x="10116522" y="9222171"/>
            <a:ext cx="9281250" cy="4640625"/>
          </a:xfrm>
          <a:custGeom>
            <a:avLst/>
            <a:gdLst/>
            <a:ahLst/>
            <a:cxnLst/>
            <a:rect r="r" b="b" t="t" l="l"/>
            <a:pathLst>
              <a:path h="4640625" w="9281250">
                <a:moveTo>
                  <a:pt x="0" y="0"/>
                </a:moveTo>
                <a:lnTo>
                  <a:pt x="9281250" y="0"/>
                </a:lnTo>
                <a:lnTo>
                  <a:pt x="9281250" y="4640625"/>
                </a:lnTo>
                <a:lnTo>
                  <a:pt x="0" y="46406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false" rot="-10800000">
            <a:off x="971550" y="-3324521"/>
            <a:ext cx="7334017" cy="3667009"/>
          </a:xfrm>
          <a:custGeom>
            <a:avLst/>
            <a:gdLst/>
            <a:ahLst/>
            <a:cxnLst/>
            <a:rect r="r" b="b" t="t" l="l"/>
            <a:pathLst>
              <a:path h="3667009" w="7334017">
                <a:moveTo>
                  <a:pt x="7334017" y="0"/>
                </a:moveTo>
                <a:lnTo>
                  <a:pt x="0" y="0"/>
                </a:lnTo>
                <a:lnTo>
                  <a:pt x="0" y="3667009"/>
                </a:lnTo>
                <a:lnTo>
                  <a:pt x="7334017" y="3667009"/>
                </a:lnTo>
                <a:lnTo>
                  <a:pt x="7334017"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8" id="18"/>
          <p:cNvGrpSpPr/>
          <p:nvPr/>
        </p:nvGrpSpPr>
        <p:grpSpPr>
          <a:xfrm rot="-10800000">
            <a:off x="8268687" y="-342488"/>
            <a:ext cx="10923063" cy="684975"/>
            <a:chOff x="0" y="0"/>
            <a:chExt cx="2891335" cy="181313"/>
          </a:xfrm>
        </p:grpSpPr>
        <p:sp>
          <p:nvSpPr>
            <p:cNvPr name="Freeform 19" id="19"/>
            <p:cNvSpPr/>
            <p:nvPr/>
          </p:nvSpPr>
          <p:spPr>
            <a:xfrm flipH="false" flipV="false" rot="0">
              <a:off x="0" y="0"/>
              <a:ext cx="2891335" cy="181313"/>
            </a:xfrm>
            <a:custGeom>
              <a:avLst/>
              <a:gdLst/>
              <a:ahLst/>
              <a:cxnLst/>
              <a:rect r="r" b="b" t="t" l="l"/>
              <a:pathLst>
                <a:path h="181313" w="2891335">
                  <a:moveTo>
                    <a:pt x="0" y="0"/>
                  </a:moveTo>
                  <a:lnTo>
                    <a:pt x="2891335" y="0"/>
                  </a:lnTo>
                  <a:lnTo>
                    <a:pt x="2891335" y="181313"/>
                  </a:lnTo>
                  <a:lnTo>
                    <a:pt x="0" y="181313"/>
                  </a:lnTo>
                  <a:close/>
                </a:path>
              </a:pathLst>
            </a:custGeom>
            <a:solidFill>
              <a:srgbClr val="04223C"/>
            </a:solidFill>
          </p:spPr>
        </p:sp>
        <p:sp>
          <p:nvSpPr>
            <p:cNvPr name="TextBox 20" id="20"/>
            <p:cNvSpPr txBox="true"/>
            <p:nvPr/>
          </p:nvSpPr>
          <p:spPr>
            <a:xfrm>
              <a:off x="0" y="-38100"/>
              <a:ext cx="2891335" cy="219413"/>
            </a:xfrm>
            <a:prstGeom prst="rect">
              <a:avLst/>
            </a:prstGeom>
          </p:spPr>
          <p:txBody>
            <a:bodyPr anchor="ctr" rtlCol="false" tIns="48876" lIns="48876" bIns="48876" rIns="48876"/>
            <a:lstStyle/>
            <a:p>
              <a:pPr algn="ctr">
                <a:lnSpc>
                  <a:spcPts val="2078"/>
                </a:lnSpc>
              </a:pPr>
            </a:p>
          </p:txBody>
        </p:sp>
      </p:grpSp>
      <p:sp>
        <p:nvSpPr>
          <p:cNvPr name="Freeform 21" id="21"/>
          <p:cNvSpPr/>
          <p:nvPr/>
        </p:nvSpPr>
        <p:spPr>
          <a:xfrm flipH="true" flipV="true" rot="0">
            <a:off x="3594814" y="2914105"/>
            <a:ext cx="805739" cy="1005457"/>
          </a:xfrm>
          <a:custGeom>
            <a:avLst/>
            <a:gdLst/>
            <a:ahLst/>
            <a:cxnLst/>
            <a:rect r="r" b="b" t="t" l="l"/>
            <a:pathLst>
              <a:path h="1005457" w="805739">
                <a:moveTo>
                  <a:pt x="805739" y="1005457"/>
                </a:moveTo>
                <a:lnTo>
                  <a:pt x="0" y="1005457"/>
                </a:lnTo>
                <a:lnTo>
                  <a:pt x="0" y="0"/>
                </a:lnTo>
                <a:lnTo>
                  <a:pt x="805739" y="0"/>
                </a:lnTo>
                <a:lnTo>
                  <a:pt x="805739" y="1005457"/>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2" id="22"/>
          <p:cNvSpPr/>
          <p:nvPr/>
        </p:nvSpPr>
        <p:spPr>
          <a:xfrm flipH="true" flipV="true" rot="0">
            <a:off x="10835556" y="2914105"/>
            <a:ext cx="805739" cy="1005457"/>
          </a:xfrm>
          <a:custGeom>
            <a:avLst/>
            <a:gdLst/>
            <a:ahLst/>
            <a:cxnLst/>
            <a:rect r="r" b="b" t="t" l="l"/>
            <a:pathLst>
              <a:path h="1005457" w="805739">
                <a:moveTo>
                  <a:pt x="805739" y="1005457"/>
                </a:moveTo>
                <a:lnTo>
                  <a:pt x="0" y="1005457"/>
                </a:lnTo>
                <a:lnTo>
                  <a:pt x="0" y="0"/>
                </a:lnTo>
                <a:lnTo>
                  <a:pt x="805739" y="0"/>
                </a:lnTo>
                <a:lnTo>
                  <a:pt x="805739" y="1005457"/>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3" id="23"/>
          <p:cNvSpPr/>
          <p:nvPr/>
        </p:nvSpPr>
        <p:spPr>
          <a:xfrm flipH="false" flipV="false" rot="0">
            <a:off x="2855786" y="7187341"/>
            <a:ext cx="8735145" cy="3090057"/>
          </a:xfrm>
          <a:custGeom>
            <a:avLst/>
            <a:gdLst/>
            <a:ahLst/>
            <a:cxnLst/>
            <a:rect r="r" b="b" t="t" l="l"/>
            <a:pathLst>
              <a:path h="3090057" w="8735145">
                <a:moveTo>
                  <a:pt x="0" y="0"/>
                </a:moveTo>
                <a:lnTo>
                  <a:pt x="8735145" y="0"/>
                </a:lnTo>
                <a:lnTo>
                  <a:pt x="8735145" y="3090058"/>
                </a:lnTo>
                <a:lnTo>
                  <a:pt x="0" y="3090058"/>
                </a:lnTo>
                <a:lnTo>
                  <a:pt x="0" y="0"/>
                </a:lnTo>
                <a:close/>
              </a:path>
            </a:pathLst>
          </a:custGeom>
          <a:blipFill>
            <a:blip r:embed="rId16"/>
            <a:stretch>
              <a:fillRect l="0" t="0" r="0" b="0"/>
            </a:stretch>
          </a:blipFill>
        </p:spPr>
      </p:sp>
      <p:sp>
        <p:nvSpPr>
          <p:cNvPr name="TextBox 24" id="24"/>
          <p:cNvSpPr txBox="true"/>
          <p:nvPr/>
        </p:nvSpPr>
        <p:spPr>
          <a:xfrm rot="0">
            <a:off x="4091925" y="1224570"/>
            <a:ext cx="11425142" cy="1152525"/>
          </a:xfrm>
          <a:prstGeom prst="rect">
            <a:avLst/>
          </a:prstGeom>
        </p:spPr>
        <p:txBody>
          <a:bodyPr anchor="t" rtlCol="false" tIns="0" lIns="0" bIns="0" rIns="0">
            <a:spAutoFit/>
          </a:bodyPr>
          <a:lstStyle/>
          <a:p>
            <a:pPr algn="l">
              <a:lnSpc>
                <a:spcPts val="9150"/>
              </a:lnSpc>
            </a:pPr>
            <a:r>
              <a:rPr lang="en-US" sz="7500" b="true">
                <a:solidFill>
                  <a:srgbClr val="40A8CD"/>
                </a:solidFill>
                <a:latin typeface="Nourd Bold"/>
                <a:ea typeface="Nourd Bold"/>
                <a:cs typeface="Nourd Bold"/>
                <a:sym typeface="Nourd Bold"/>
              </a:rPr>
              <a:t>Experimental Setup</a:t>
            </a:r>
          </a:p>
        </p:txBody>
      </p:sp>
      <p:sp>
        <p:nvSpPr>
          <p:cNvPr name="TextBox 25" id="25"/>
          <p:cNvSpPr txBox="true"/>
          <p:nvPr/>
        </p:nvSpPr>
        <p:spPr>
          <a:xfrm rot="0">
            <a:off x="8918605" y="9545467"/>
            <a:ext cx="8822879" cy="422275"/>
          </a:xfrm>
          <a:prstGeom prst="rect">
            <a:avLst/>
          </a:prstGeom>
        </p:spPr>
        <p:txBody>
          <a:bodyPr anchor="t" rtlCol="false" tIns="0" lIns="0" bIns="0" rIns="0">
            <a:spAutoFit/>
          </a:bodyPr>
          <a:lstStyle/>
          <a:p>
            <a:pPr algn="r">
              <a:lnSpc>
                <a:spcPts val="3499"/>
              </a:lnSpc>
            </a:pPr>
            <a:r>
              <a:rPr lang="en-US" sz="2499">
                <a:solidFill>
                  <a:srgbClr val="4E4E4E"/>
                </a:solidFill>
                <a:latin typeface="Nourd"/>
                <a:ea typeface="Nourd"/>
                <a:cs typeface="Nourd"/>
                <a:sym typeface="Nourd"/>
              </a:rPr>
              <a:t>ICoDSE | 2025</a:t>
            </a:r>
          </a:p>
        </p:txBody>
      </p:sp>
      <p:sp>
        <p:nvSpPr>
          <p:cNvPr name="TextBox 26" id="26"/>
          <p:cNvSpPr txBox="true"/>
          <p:nvPr/>
        </p:nvSpPr>
        <p:spPr>
          <a:xfrm rot="0">
            <a:off x="4822507" y="2821716"/>
            <a:ext cx="5593949" cy="4365625"/>
          </a:xfrm>
          <a:prstGeom prst="rect">
            <a:avLst/>
          </a:prstGeom>
        </p:spPr>
        <p:txBody>
          <a:bodyPr anchor="t" rtlCol="false" tIns="0" lIns="0" bIns="0" rIns="0">
            <a:spAutoFit/>
          </a:bodyPr>
          <a:lstStyle/>
          <a:p>
            <a:pPr algn="just">
              <a:lnSpc>
                <a:spcPts val="3499"/>
              </a:lnSpc>
            </a:pPr>
            <a:r>
              <a:rPr lang="en-US" sz="2499">
                <a:solidFill>
                  <a:srgbClr val="04223C"/>
                </a:solidFill>
                <a:latin typeface="Nourd"/>
                <a:ea typeface="Nourd"/>
                <a:cs typeface="Nourd"/>
                <a:sym typeface="Nourd"/>
              </a:rPr>
              <a:t>The experiment evaluated the developed crypto-ransomware across five antivirus products: Windows Defender, McAfee, Norton, Malwarebytes, and Avast; with three different configurations: baseline, stealthy, and destructive. The main evaluation metrics were the number of files encrypted and average execution time.</a:t>
            </a:r>
          </a:p>
        </p:txBody>
      </p:sp>
      <p:sp>
        <p:nvSpPr>
          <p:cNvPr name="TextBox 27" id="27"/>
          <p:cNvSpPr txBox="true"/>
          <p:nvPr/>
        </p:nvSpPr>
        <p:spPr>
          <a:xfrm rot="0">
            <a:off x="11912217" y="2821716"/>
            <a:ext cx="5594663" cy="6118225"/>
          </a:xfrm>
          <a:prstGeom prst="rect">
            <a:avLst/>
          </a:prstGeom>
        </p:spPr>
        <p:txBody>
          <a:bodyPr anchor="t" rtlCol="false" tIns="0" lIns="0" bIns="0" rIns="0">
            <a:spAutoFit/>
          </a:bodyPr>
          <a:lstStyle/>
          <a:p>
            <a:pPr algn="just" marL="0" indent="0" lvl="1">
              <a:lnSpc>
                <a:spcPts val="3499"/>
              </a:lnSpc>
              <a:spcBef>
                <a:spcPct val="0"/>
              </a:spcBef>
            </a:pPr>
            <a:r>
              <a:rPr lang="en-US" sz="2499">
                <a:solidFill>
                  <a:srgbClr val="04223C"/>
                </a:solidFill>
                <a:latin typeface="Nourd"/>
                <a:ea typeface="Nourd"/>
                <a:cs typeface="Nourd"/>
                <a:sym typeface="Nourd"/>
              </a:rPr>
              <a:t>Results indicate that configuration choice had minimal influence on detection outcomes; performance primarily depended on the antivirus used. Both Windows Defender and McAfee failed to detect the ransomware, allowing all 128 files to be encrypted. McAfee completed execution slightly faster (17,188 ms) than Defender (18,918 ms), with stable variance across runs. In contrast, Norton, Malwarebytes, and Avast successfully intercepted or blocked the ransomware at varying stages.</a:t>
            </a:r>
          </a:p>
        </p:txBody>
      </p:sp>
      <p:sp>
        <p:nvSpPr>
          <p:cNvPr name="TextBox 28" id="28"/>
          <p:cNvSpPr txBox="true"/>
          <p:nvPr/>
        </p:nvSpPr>
        <p:spPr>
          <a:xfrm rot="0">
            <a:off x="3594814" y="3085046"/>
            <a:ext cx="805739" cy="596901"/>
          </a:xfrm>
          <a:prstGeom prst="rect">
            <a:avLst/>
          </a:prstGeom>
        </p:spPr>
        <p:txBody>
          <a:bodyPr anchor="t" rtlCol="false" tIns="0" lIns="0" bIns="0" rIns="0">
            <a:spAutoFit/>
          </a:bodyPr>
          <a:lstStyle/>
          <a:p>
            <a:pPr algn="ctr">
              <a:lnSpc>
                <a:spcPts val="4899"/>
              </a:lnSpc>
            </a:pPr>
            <a:r>
              <a:rPr lang="en-US" b="true" sz="3499">
                <a:solidFill>
                  <a:srgbClr val="04223C"/>
                </a:solidFill>
                <a:latin typeface="Nourd Bold"/>
                <a:ea typeface="Nourd Bold"/>
                <a:cs typeface="Nourd Bold"/>
                <a:sym typeface="Nourd Bold"/>
              </a:rPr>
              <a:t>1</a:t>
            </a:r>
          </a:p>
        </p:txBody>
      </p:sp>
      <p:sp>
        <p:nvSpPr>
          <p:cNvPr name="TextBox 29" id="29"/>
          <p:cNvSpPr txBox="true"/>
          <p:nvPr/>
        </p:nvSpPr>
        <p:spPr>
          <a:xfrm rot="0">
            <a:off x="10835556" y="3085046"/>
            <a:ext cx="805739" cy="596901"/>
          </a:xfrm>
          <a:prstGeom prst="rect">
            <a:avLst/>
          </a:prstGeom>
        </p:spPr>
        <p:txBody>
          <a:bodyPr anchor="t" rtlCol="false" tIns="0" lIns="0" bIns="0" rIns="0">
            <a:spAutoFit/>
          </a:bodyPr>
          <a:lstStyle/>
          <a:p>
            <a:pPr algn="ctr">
              <a:lnSpc>
                <a:spcPts val="4899"/>
              </a:lnSpc>
            </a:pPr>
            <a:r>
              <a:rPr lang="en-US" b="true" sz="3499">
                <a:solidFill>
                  <a:srgbClr val="04223C"/>
                </a:solidFill>
                <a:latin typeface="Nourd Bold"/>
                <a:ea typeface="Nourd Bold"/>
                <a:cs typeface="Nourd Bold"/>
                <a:sym typeface="Nourd Bold"/>
              </a:rPr>
              <a:t>2</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3451814" y="2646567"/>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3451814" y="5480210"/>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3759899" y="2914571"/>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5400000">
            <a:off x="-3759899" y="5748214"/>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0800000">
            <a:off x="-312917" y="1711428"/>
            <a:ext cx="1883948" cy="1883948"/>
          </a:xfrm>
          <a:custGeom>
            <a:avLst/>
            <a:gdLst/>
            <a:ahLst/>
            <a:cxnLst/>
            <a:rect r="r" b="b" t="t" l="l"/>
            <a:pathLst>
              <a:path h="1883948" w="1883948">
                <a:moveTo>
                  <a:pt x="0" y="0"/>
                </a:moveTo>
                <a:lnTo>
                  <a:pt x="1883948" y="0"/>
                </a:lnTo>
                <a:lnTo>
                  <a:pt x="1883948" y="1883948"/>
                </a:lnTo>
                <a:lnTo>
                  <a:pt x="0" y="18839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5400000">
            <a:off x="1738434" y="1711428"/>
            <a:ext cx="1202677" cy="1202677"/>
          </a:xfrm>
          <a:custGeom>
            <a:avLst/>
            <a:gdLst/>
            <a:ahLst/>
            <a:cxnLst/>
            <a:rect r="r" b="b" t="t" l="l"/>
            <a:pathLst>
              <a:path h="1202677" w="1202677">
                <a:moveTo>
                  <a:pt x="0" y="0"/>
                </a:moveTo>
                <a:lnTo>
                  <a:pt x="1202676" y="0"/>
                </a:lnTo>
                <a:lnTo>
                  <a:pt x="1202676" y="1202677"/>
                </a:lnTo>
                <a:lnTo>
                  <a:pt x="0" y="12026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10800000">
            <a:off x="1706937" y="425887"/>
            <a:ext cx="1168661" cy="1168661"/>
          </a:xfrm>
          <a:custGeom>
            <a:avLst/>
            <a:gdLst/>
            <a:ahLst/>
            <a:cxnLst/>
            <a:rect r="r" b="b" t="t" l="l"/>
            <a:pathLst>
              <a:path h="1168661" w="1168661">
                <a:moveTo>
                  <a:pt x="0" y="0"/>
                </a:moveTo>
                <a:lnTo>
                  <a:pt x="1168660" y="0"/>
                </a:lnTo>
                <a:lnTo>
                  <a:pt x="1168660" y="1168661"/>
                </a:lnTo>
                <a:lnTo>
                  <a:pt x="0" y="11686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5494193">
            <a:off x="-288851" y="-317006"/>
            <a:ext cx="1886072" cy="1886072"/>
          </a:xfrm>
          <a:custGeom>
            <a:avLst/>
            <a:gdLst/>
            <a:ahLst/>
            <a:cxnLst/>
            <a:rect r="r" b="b" t="t" l="l"/>
            <a:pathLst>
              <a:path h="1886072" w="1886072">
                <a:moveTo>
                  <a:pt x="0" y="0"/>
                </a:moveTo>
                <a:lnTo>
                  <a:pt x="1886071" y="0"/>
                </a:lnTo>
                <a:lnTo>
                  <a:pt x="1886071" y="1886072"/>
                </a:lnTo>
                <a:lnTo>
                  <a:pt x="0" y="18860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10800000">
            <a:off x="2875597" y="9336132"/>
            <a:ext cx="4888040" cy="1015888"/>
          </a:xfrm>
          <a:custGeom>
            <a:avLst/>
            <a:gdLst/>
            <a:ahLst/>
            <a:cxnLst/>
            <a:rect r="r" b="b" t="t" l="l"/>
            <a:pathLst>
              <a:path h="1015888" w="4888040">
                <a:moveTo>
                  <a:pt x="0" y="0"/>
                </a:moveTo>
                <a:lnTo>
                  <a:pt x="4888041" y="0"/>
                </a:lnTo>
                <a:lnTo>
                  <a:pt x="4888041"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10800000">
            <a:off x="7782688" y="9337492"/>
            <a:ext cx="4888040" cy="1015888"/>
          </a:xfrm>
          <a:custGeom>
            <a:avLst/>
            <a:gdLst/>
            <a:ahLst/>
            <a:cxnLst/>
            <a:rect r="r" b="b" t="t" l="l"/>
            <a:pathLst>
              <a:path h="1015888" w="4888040">
                <a:moveTo>
                  <a:pt x="0" y="0"/>
                </a:moveTo>
                <a:lnTo>
                  <a:pt x="4888040" y="0"/>
                </a:lnTo>
                <a:lnTo>
                  <a:pt x="4888040"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10800000">
            <a:off x="12689778" y="9338853"/>
            <a:ext cx="4888040" cy="1015888"/>
          </a:xfrm>
          <a:custGeom>
            <a:avLst/>
            <a:gdLst/>
            <a:ahLst/>
            <a:cxnLst/>
            <a:rect r="r" b="b" t="t" l="l"/>
            <a:pathLst>
              <a:path h="1015888" w="4888040">
                <a:moveTo>
                  <a:pt x="0" y="0"/>
                </a:moveTo>
                <a:lnTo>
                  <a:pt x="4888040" y="0"/>
                </a:lnTo>
                <a:lnTo>
                  <a:pt x="4888040"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grpSp>
        <p:nvGrpSpPr>
          <p:cNvPr name="Group 13" id="13"/>
          <p:cNvGrpSpPr/>
          <p:nvPr/>
        </p:nvGrpSpPr>
        <p:grpSpPr>
          <a:xfrm rot="0">
            <a:off x="2875597" y="9127948"/>
            <a:ext cx="15731854" cy="1880081"/>
            <a:chOff x="0" y="0"/>
            <a:chExt cx="4143369" cy="495165"/>
          </a:xfrm>
        </p:grpSpPr>
        <p:sp>
          <p:nvSpPr>
            <p:cNvPr name="Freeform 14" id="14"/>
            <p:cNvSpPr/>
            <p:nvPr/>
          </p:nvSpPr>
          <p:spPr>
            <a:xfrm flipH="false" flipV="false" rot="0">
              <a:off x="0" y="0"/>
              <a:ext cx="4143369" cy="495165"/>
            </a:xfrm>
            <a:custGeom>
              <a:avLst/>
              <a:gdLst/>
              <a:ahLst/>
              <a:cxnLst/>
              <a:rect r="r" b="b" t="t" l="l"/>
              <a:pathLst>
                <a:path h="495165" w="4143369">
                  <a:moveTo>
                    <a:pt x="0" y="0"/>
                  </a:moveTo>
                  <a:lnTo>
                    <a:pt x="4143369" y="0"/>
                  </a:lnTo>
                  <a:lnTo>
                    <a:pt x="4143369" y="495165"/>
                  </a:lnTo>
                  <a:lnTo>
                    <a:pt x="0" y="495165"/>
                  </a:lnTo>
                  <a:close/>
                </a:path>
              </a:pathLst>
            </a:custGeom>
            <a:gradFill rotWithShape="true">
              <a:gsLst>
                <a:gs pos="0">
                  <a:srgbClr val="FFFFFF">
                    <a:alpha val="100000"/>
                  </a:srgbClr>
                </a:gs>
                <a:gs pos="33333">
                  <a:srgbClr val="FFFFFF">
                    <a:alpha val="71000"/>
                  </a:srgbClr>
                </a:gs>
                <a:gs pos="66667">
                  <a:srgbClr val="FFFFFF">
                    <a:alpha val="54000"/>
                  </a:srgbClr>
                </a:gs>
                <a:gs pos="100000">
                  <a:srgbClr val="FFFFFF">
                    <a:alpha val="21500"/>
                  </a:srgbClr>
                </a:gs>
              </a:gsLst>
              <a:lin ang="5400000"/>
            </a:gradFill>
          </p:spPr>
        </p:sp>
        <p:sp>
          <p:nvSpPr>
            <p:cNvPr name="TextBox 15" id="15"/>
            <p:cNvSpPr txBox="true"/>
            <p:nvPr/>
          </p:nvSpPr>
          <p:spPr>
            <a:xfrm>
              <a:off x="0" y="-38100"/>
              <a:ext cx="4143369" cy="533265"/>
            </a:xfrm>
            <a:prstGeom prst="rect">
              <a:avLst/>
            </a:prstGeom>
          </p:spPr>
          <p:txBody>
            <a:bodyPr anchor="ctr" rtlCol="false" tIns="50800" lIns="50800" bIns="50800" rIns="50800"/>
            <a:lstStyle/>
            <a:p>
              <a:pPr algn="ctr">
                <a:lnSpc>
                  <a:spcPts val="2078"/>
                </a:lnSpc>
              </a:pPr>
            </a:p>
          </p:txBody>
        </p:sp>
      </p:grpSp>
      <p:sp>
        <p:nvSpPr>
          <p:cNvPr name="Freeform 16" id="16"/>
          <p:cNvSpPr/>
          <p:nvPr/>
        </p:nvSpPr>
        <p:spPr>
          <a:xfrm flipH="false" flipV="false" rot="-10800000">
            <a:off x="10116522" y="9222171"/>
            <a:ext cx="9281250" cy="4640625"/>
          </a:xfrm>
          <a:custGeom>
            <a:avLst/>
            <a:gdLst/>
            <a:ahLst/>
            <a:cxnLst/>
            <a:rect r="r" b="b" t="t" l="l"/>
            <a:pathLst>
              <a:path h="4640625" w="9281250">
                <a:moveTo>
                  <a:pt x="0" y="0"/>
                </a:moveTo>
                <a:lnTo>
                  <a:pt x="9281250" y="0"/>
                </a:lnTo>
                <a:lnTo>
                  <a:pt x="9281250" y="4640625"/>
                </a:lnTo>
                <a:lnTo>
                  <a:pt x="0" y="46406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false" rot="-10800000">
            <a:off x="971550" y="-3324521"/>
            <a:ext cx="7334017" cy="3667009"/>
          </a:xfrm>
          <a:custGeom>
            <a:avLst/>
            <a:gdLst/>
            <a:ahLst/>
            <a:cxnLst/>
            <a:rect r="r" b="b" t="t" l="l"/>
            <a:pathLst>
              <a:path h="3667009" w="7334017">
                <a:moveTo>
                  <a:pt x="7334017" y="0"/>
                </a:moveTo>
                <a:lnTo>
                  <a:pt x="0" y="0"/>
                </a:lnTo>
                <a:lnTo>
                  <a:pt x="0" y="3667009"/>
                </a:lnTo>
                <a:lnTo>
                  <a:pt x="7334017" y="3667009"/>
                </a:lnTo>
                <a:lnTo>
                  <a:pt x="7334017"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8" id="18"/>
          <p:cNvGrpSpPr/>
          <p:nvPr/>
        </p:nvGrpSpPr>
        <p:grpSpPr>
          <a:xfrm rot="-10800000">
            <a:off x="8268687" y="-342488"/>
            <a:ext cx="10923063" cy="684975"/>
            <a:chOff x="0" y="0"/>
            <a:chExt cx="2891335" cy="181313"/>
          </a:xfrm>
        </p:grpSpPr>
        <p:sp>
          <p:nvSpPr>
            <p:cNvPr name="Freeform 19" id="19"/>
            <p:cNvSpPr/>
            <p:nvPr/>
          </p:nvSpPr>
          <p:spPr>
            <a:xfrm flipH="false" flipV="false" rot="0">
              <a:off x="0" y="0"/>
              <a:ext cx="2891335" cy="181313"/>
            </a:xfrm>
            <a:custGeom>
              <a:avLst/>
              <a:gdLst/>
              <a:ahLst/>
              <a:cxnLst/>
              <a:rect r="r" b="b" t="t" l="l"/>
              <a:pathLst>
                <a:path h="181313" w="2891335">
                  <a:moveTo>
                    <a:pt x="0" y="0"/>
                  </a:moveTo>
                  <a:lnTo>
                    <a:pt x="2891335" y="0"/>
                  </a:lnTo>
                  <a:lnTo>
                    <a:pt x="2891335" y="181313"/>
                  </a:lnTo>
                  <a:lnTo>
                    <a:pt x="0" y="181313"/>
                  </a:lnTo>
                  <a:close/>
                </a:path>
              </a:pathLst>
            </a:custGeom>
            <a:solidFill>
              <a:srgbClr val="04223C"/>
            </a:solidFill>
          </p:spPr>
        </p:sp>
        <p:sp>
          <p:nvSpPr>
            <p:cNvPr name="TextBox 20" id="20"/>
            <p:cNvSpPr txBox="true"/>
            <p:nvPr/>
          </p:nvSpPr>
          <p:spPr>
            <a:xfrm>
              <a:off x="0" y="-38100"/>
              <a:ext cx="2891335" cy="219413"/>
            </a:xfrm>
            <a:prstGeom prst="rect">
              <a:avLst/>
            </a:prstGeom>
          </p:spPr>
          <p:txBody>
            <a:bodyPr anchor="ctr" rtlCol="false" tIns="48876" lIns="48876" bIns="48876" rIns="48876"/>
            <a:lstStyle/>
            <a:p>
              <a:pPr algn="ctr">
                <a:lnSpc>
                  <a:spcPts val="2078"/>
                </a:lnSpc>
              </a:pPr>
            </a:p>
          </p:txBody>
        </p:sp>
      </p:grpSp>
      <p:sp>
        <p:nvSpPr>
          <p:cNvPr name="TextBox 21" id="21"/>
          <p:cNvSpPr txBox="true"/>
          <p:nvPr/>
        </p:nvSpPr>
        <p:spPr>
          <a:xfrm rot="0">
            <a:off x="4091925" y="1234095"/>
            <a:ext cx="13167375" cy="908685"/>
          </a:xfrm>
          <a:prstGeom prst="rect">
            <a:avLst/>
          </a:prstGeom>
        </p:spPr>
        <p:txBody>
          <a:bodyPr anchor="t" rtlCol="false" tIns="0" lIns="0" bIns="0" rIns="0">
            <a:spAutoFit/>
          </a:bodyPr>
          <a:lstStyle/>
          <a:p>
            <a:pPr algn="l">
              <a:lnSpc>
                <a:spcPts val="7320"/>
              </a:lnSpc>
            </a:pPr>
            <a:r>
              <a:rPr lang="en-US" sz="6000" b="true">
                <a:solidFill>
                  <a:srgbClr val="40A8CD"/>
                </a:solidFill>
                <a:latin typeface="Nourd Bold"/>
                <a:ea typeface="Nourd Bold"/>
                <a:cs typeface="Nourd Bold"/>
                <a:sym typeface="Nourd Bold"/>
              </a:rPr>
              <a:t>Antivirus Behavior and Findings</a:t>
            </a:r>
          </a:p>
        </p:txBody>
      </p:sp>
      <p:sp>
        <p:nvSpPr>
          <p:cNvPr name="TextBox 22" id="22"/>
          <p:cNvSpPr txBox="true"/>
          <p:nvPr/>
        </p:nvSpPr>
        <p:spPr>
          <a:xfrm rot="0">
            <a:off x="8918605" y="9545467"/>
            <a:ext cx="8822879" cy="422275"/>
          </a:xfrm>
          <a:prstGeom prst="rect">
            <a:avLst/>
          </a:prstGeom>
        </p:spPr>
        <p:txBody>
          <a:bodyPr anchor="t" rtlCol="false" tIns="0" lIns="0" bIns="0" rIns="0">
            <a:spAutoFit/>
          </a:bodyPr>
          <a:lstStyle/>
          <a:p>
            <a:pPr algn="r">
              <a:lnSpc>
                <a:spcPts val="3499"/>
              </a:lnSpc>
            </a:pPr>
            <a:r>
              <a:rPr lang="en-US" sz="2499">
                <a:solidFill>
                  <a:srgbClr val="4E4E4E"/>
                </a:solidFill>
                <a:latin typeface="Nourd"/>
                <a:ea typeface="Nourd"/>
                <a:cs typeface="Nourd"/>
                <a:sym typeface="Nourd"/>
              </a:rPr>
              <a:t>ICoDSE | 2025</a:t>
            </a:r>
          </a:p>
        </p:txBody>
      </p:sp>
      <p:sp>
        <p:nvSpPr>
          <p:cNvPr name="TextBox 23" id="23"/>
          <p:cNvSpPr txBox="true"/>
          <p:nvPr/>
        </p:nvSpPr>
        <p:spPr>
          <a:xfrm rot="0">
            <a:off x="4091925" y="2990505"/>
            <a:ext cx="13167375" cy="2174875"/>
          </a:xfrm>
          <a:prstGeom prst="rect">
            <a:avLst/>
          </a:prstGeom>
        </p:spPr>
        <p:txBody>
          <a:bodyPr anchor="t" rtlCol="false" tIns="0" lIns="0" bIns="0" rIns="0">
            <a:spAutoFit/>
          </a:bodyPr>
          <a:lstStyle/>
          <a:p>
            <a:pPr algn="just">
              <a:lnSpc>
                <a:spcPts val="3499"/>
              </a:lnSpc>
            </a:pPr>
            <a:r>
              <a:rPr lang="en-US" b="true" sz="2499">
                <a:solidFill>
                  <a:srgbClr val="04223C"/>
                </a:solidFill>
                <a:latin typeface="Nourd Bold"/>
                <a:ea typeface="Nourd Bold"/>
                <a:cs typeface="Nourd Bold"/>
                <a:sym typeface="Nourd Bold"/>
              </a:rPr>
              <a:t>Norton AntiVirus Plus</a:t>
            </a:r>
            <a:r>
              <a:rPr lang="en-US" sz="2499">
                <a:solidFill>
                  <a:srgbClr val="04223C"/>
                </a:solidFill>
                <a:latin typeface="Nourd"/>
                <a:ea typeface="Nourd"/>
                <a:cs typeface="Nourd"/>
                <a:sym typeface="Nourd"/>
              </a:rPr>
              <a:t> detected malicious activity only after encrypting 16 files, primarily within the Downl</a:t>
            </a:r>
            <a:r>
              <a:rPr lang="en-US" sz="2499">
                <a:solidFill>
                  <a:srgbClr val="04223C"/>
                </a:solidFill>
                <a:latin typeface="Nourd"/>
                <a:ea typeface="Nourd"/>
                <a:cs typeface="Nourd"/>
                <a:sym typeface="Nourd"/>
              </a:rPr>
              <a:t>o</a:t>
            </a:r>
            <a:r>
              <a:rPr lang="en-US" sz="2499">
                <a:solidFill>
                  <a:srgbClr val="04223C"/>
                </a:solidFill>
                <a:latin typeface="Nourd"/>
                <a:ea typeface="Nourd"/>
                <a:cs typeface="Nourd"/>
                <a:sym typeface="Nourd"/>
              </a:rPr>
              <a:t>ads</a:t>
            </a:r>
            <a:r>
              <a:rPr lang="en-US" sz="2499">
                <a:solidFill>
                  <a:srgbClr val="04223C"/>
                </a:solidFill>
                <a:latin typeface="Nourd"/>
                <a:ea typeface="Nourd"/>
                <a:cs typeface="Nourd"/>
                <a:sym typeface="Nourd"/>
              </a:rPr>
              <a:t> f</a:t>
            </a:r>
            <a:r>
              <a:rPr lang="en-US" sz="2499">
                <a:solidFill>
                  <a:srgbClr val="04223C"/>
                </a:solidFill>
                <a:latin typeface="Nourd"/>
                <a:ea typeface="Nourd"/>
                <a:cs typeface="Nourd"/>
                <a:sym typeface="Nourd"/>
              </a:rPr>
              <a:t>older. Det</a:t>
            </a:r>
            <a:r>
              <a:rPr lang="en-US" sz="2499">
                <a:solidFill>
                  <a:srgbClr val="04223C"/>
                </a:solidFill>
                <a:latin typeface="Nourd"/>
                <a:ea typeface="Nourd"/>
                <a:cs typeface="Nourd"/>
                <a:sym typeface="Nourd"/>
              </a:rPr>
              <a:t>ecti</a:t>
            </a:r>
            <a:r>
              <a:rPr lang="en-US" sz="2499">
                <a:solidFill>
                  <a:srgbClr val="04223C"/>
                </a:solidFill>
                <a:latin typeface="Nourd"/>
                <a:ea typeface="Nourd"/>
                <a:cs typeface="Nourd"/>
                <a:sym typeface="Nourd"/>
              </a:rPr>
              <a:t>on succ</a:t>
            </a:r>
            <a:r>
              <a:rPr lang="en-US" sz="2499">
                <a:solidFill>
                  <a:srgbClr val="04223C"/>
                </a:solidFill>
                <a:latin typeface="Nourd"/>
                <a:ea typeface="Nourd"/>
                <a:cs typeface="Nourd"/>
                <a:sym typeface="Nourd"/>
              </a:rPr>
              <a:t>e</a:t>
            </a:r>
            <a:r>
              <a:rPr lang="en-US" sz="2499">
                <a:solidFill>
                  <a:srgbClr val="04223C"/>
                </a:solidFill>
                <a:latin typeface="Nourd"/>
                <a:ea typeface="Nourd"/>
                <a:cs typeface="Nourd"/>
                <a:sym typeface="Nourd"/>
              </a:rPr>
              <a:t>ss</a:t>
            </a:r>
            <a:r>
              <a:rPr lang="en-US" sz="2499">
                <a:solidFill>
                  <a:srgbClr val="04223C"/>
                </a:solidFill>
                <a:latin typeface="Nourd"/>
                <a:ea typeface="Nourd"/>
                <a:cs typeface="Nourd"/>
                <a:sym typeface="Nourd"/>
              </a:rPr>
              <a:t> </a:t>
            </a:r>
            <a:r>
              <a:rPr lang="en-US" sz="2499">
                <a:solidFill>
                  <a:srgbClr val="04223C"/>
                </a:solidFill>
                <a:latin typeface="Nourd"/>
                <a:ea typeface="Nourd"/>
                <a:cs typeface="Nourd"/>
                <a:sym typeface="Nourd"/>
              </a:rPr>
              <a:t>v</a:t>
            </a:r>
            <a:r>
              <a:rPr lang="en-US" sz="2499">
                <a:solidFill>
                  <a:srgbClr val="04223C"/>
                </a:solidFill>
                <a:latin typeface="Nourd"/>
                <a:ea typeface="Nourd"/>
                <a:cs typeface="Nourd"/>
                <a:sym typeface="Nourd"/>
              </a:rPr>
              <a:t>a</a:t>
            </a:r>
            <a:r>
              <a:rPr lang="en-US" sz="2499">
                <a:solidFill>
                  <a:srgbClr val="04223C"/>
                </a:solidFill>
                <a:latin typeface="Nourd"/>
                <a:ea typeface="Nourd"/>
                <a:cs typeface="Nourd"/>
                <a:sym typeface="Nourd"/>
              </a:rPr>
              <a:t>rie</a:t>
            </a:r>
            <a:r>
              <a:rPr lang="en-US" sz="2499">
                <a:solidFill>
                  <a:srgbClr val="04223C"/>
                </a:solidFill>
                <a:latin typeface="Nourd"/>
                <a:ea typeface="Nourd"/>
                <a:cs typeface="Nourd"/>
                <a:sym typeface="Nourd"/>
              </a:rPr>
              <a:t>d </a:t>
            </a:r>
            <a:r>
              <a:rPr lang="en-US" sz="2499">
                <a:solidFill>
                  <a:srgbClr val="04223C"/>
                </a:solidFill>
                <a:latin typeface="Nourd"/>
                <a:ea typeface="Nourd"/>
                <a:cs typeface="Nourd"/>
                <a:sym typeface="Nourd"/>
              </a:rPr>
              <a:t>by di</a:t>
            </a:r>
            <a:r>
              <a:rPr lang="en-US" sz="2499">
                <a:solidFill>
                  <a:srgbClr val="04223C"/>
                </a:solidFill>
                <a:latin typeface="Nourd"/>
                <a:ea typeface="Nourd"/>
                <a:cs typeface="Nourd"/>
                <a:sym typeface="Nourd"/>
              </a:rPr>
              <a:t>re</a:t>
            </a:r>
            <a:r>
              <a:rPr lang="en-US" sz="2499">
                <a:solidFill>
                  <a:srgbClr val="04223C"/>
                </a:solidFill>
                <a:latin typeface="Nourd"/>
                <a:ea typeface="Nourd"/>
                <a:cs typeface="Nourd"/>
                <a:sym typeface="Nourd"/>
              </a:rPr>
              <a:t>ctory </a:t>
            </a:r>
            <a:r>
              <a:rPr lang="en-US" sz="2499">
                <a:solidFill>
                  <a:srgbClr val="04223C"/>
                </a:solidFill>
                <a:latin typeface="Nourd"/>
                <a:ea typeface="Nourd"/>
                <a:cs typeface="Nourd"/>
                <a:sym typeface="Nourd"/>
              </a:rPr>
              <a:t>l</a:t>
            </a:r>
            <a:r>
              <a:rPr lang="en-US" sz="2499">
                <a:solidFill>
                  <a:srgbClr val="04223C"/>
                </a:solidFill>
                <a:latin typeface="Nourd"/>
                <a:ea typeface="Nourd"/>
                <a:cs typeface="Nourd"/>
                <a:sym typeface="Nourd"/>
              </a:rPr>
              <a:t>ocat</a:t>
            </a:r>
            <a:r>
              <a:rPr lang="en-US" sz="2499">
                <a:solidFill>
                  <a:srgbClr val="04223C"/>
                </a:solidFill>
                <a:latin typeface="Nourd"/>
                <a:ea typeface="Nourd"/>
                <a:cs typeface="Nourd"/>
                <a:sym typeface="Nourd"/>
              </a:rPr>
              <a:t>i</a:t>
            </a:r>
            <a:r>
              <a:rPr lang="en-US" sz="2499">
                <a:solidFill>
                  <a:srgbClr val="04223C"/>
                </a:solidFill>
                <a:latin typeface="Nourd"/>
                <a:ea typeface="Nourd"/>
                <a:cs typeface="Nourd"/>
                <a:sym typeface="Nourd"/>
              </a:rPr>
              <a:t>o</a:t>
            </a:r>
            <a:r>
              <a:rPr lang="en-US" sz="2499">
                <a:solidFill>
                  <a:srgbClr val="04223C"/>
                </a:solidFill>
                <a:latin typeface="Nourd"/>
                <a:ea typeface="Nourd"/>
                <a:cs typeface="Nourd"/>
                <a:sym typeface="Nourd"/>
              </a:rPr>
              <a:t>n</a:t>
            </a:r>
            <a:r>
              <a:rPr lang="en-US" sz="2499">
                <a:solidFill>
                  <a:srgbClr val="04223C"/>
                </a:solidFill>
                <a:latin typeface="Nourd"/>
                <a:ea typeface="Nourd"/>
                <a:cs typeface="Nourd"/>
                <a:sym typeface="Nourd"/>
              </a:rPr>
              <a:t>, sugges</a:t>
            </a:r>
            <a:r>
              <a:rPr lang="en-US" sz="2499">
                <a:solidFill>
                  <a:srgbClr val="04223C"/>
                </a:solidFill>
                <a:latin typeface="Nourd"/>
                <a:ea typeface="Nourd"/>
                <a:cs typeface="Nourd"/>
                <a:sym typeface="Nourd"/>
              </a:rPr>
              <a:t>t</a:t>
            </a:r>
            <a:r>
              <a:rPr lang="en-US" sz="2499">
                <a:solidFill>
                  <a:srgbClr val="04223C"/>
                </a:solidFill>
                <a:latin typeface="Nourd"/>
                <a:ea typeface="Nourd"/>
                <a:cs typeface="Nourd"/>
                <a:sym typeface="Nourd"/>
              </a:rPr>
              <a:t>ing</a:t>
            </a:r>
            <a:r>
              <a:rPr lang="en-US" sz="2499">
                <a:solidFill>
                  <a:srgbClr val="04223C"/>
                </a:solidFill>
                <a:latin typeface="Nourd"/>
                <a:ea typeface="Nourd"/>
                <a:cs typeface="Nourd"/>
                <a:sym typeface="Nourd"/>
              </a:rPr>
              <a:t> </a:t>
            </a:r>
            <a:r>
              <a:rPr lang="en-US" sz="2499">
                <a:solidFill>
                  <a:srgbClr val="04223C"/>
                </a:solidFill>
                <a:latin typeface="Nourd"/>
                <a:ea typeface="Nourd"/>
                <a:cs typeface="Nourd"/>
                <a:sym typeface="Nourd"/>
              </a:rPr>
              <a:t>th</a:t>
            </a:r>
            <a:r>
              <a:rPr lang="en-US" sz="2499">
                <a:solidFill>
                  <a:srgbClr val="04223C"/>
                </a:solidFill>
                <a:latin typeface="Nourd"/>
                <a:ea typeface="Nourd"/>
                <a:cs typeface="Nourd"/>
                <a:sym typeface="Nourd"/>
              </a:rPr>
              <a:t>a</a:t>
            </a:r>
            <a:r>
              <a:rPr lang="en-US" sz="2499">
                <a:solidFill>
                  <a:srgbClr val="04223C"/>
                </a:solidFill>
                <a:latin typeface="Nourd"/>
                <a:ea typeface="Nourd"/>
                <a:cs typeface="Nourd"/>
                <a:sym typeface="Nourd"/>
              </a:rPr>
              <a:t>t Norton </a:t>
            </a:r>
            <a:r>
              <a:rPr lang="en-US" sz="2499">
                <a:solidFill>
                  <a:srgbClr val="04223C"/>
                </a:solidFill>
                <a:latin typeface="Nourd"/>
                <a:ea typeface="Nourd"/>
                <a:cs typeface="Nourd"/>
                <a:sym typeface="Nourd"/>
              </a:rPr>
              <a:t>re</a:t>
            </a:r>
            <a:r>
              <a:rPr lang="en-US" sz="2499">
                <a:solidFill>
                  <a:srgbClr val="04223C"/>
                </a:solidFill>
                <a:latin typeface="Nourd"/>
                <a:ea typeface="Nourd"/>
                <a:cs typeface="Nourd"/>
                <a:sym typeface="Nourd"/>
              </a:rPr>
              <a:t>lies</a:t>
            </a:r>
            <a:r>
              <a:rPr lang="en-US" sz="2499">
                <a:solidFill>
                  <a:srgbClr val="04223C"/>
                </a:solidFill>
                <a:latin typeface="Nourd"/>
                <a:ea typeface="Nourd"/>
                <a:cs typeface="Nourd"/>
                <a:sym typeface="Nourd"/>
              </a:rPr>
              <a:t> </a:t>
            </a:r>
            <a:r>
              <a:rPr lang="en-US" sz="2499">
                <a:solidFill>
                  <a:srgbClr val="04223C"/>
                </a:solidFill>
                <a:latin typeface="Nourd"/>
                <a:ea typeface="Nourd"/>
                <a:cs typeface="Nourd"/>
                <a:sym typeface="Nourd"/>
              </a:rPr>
              <a:t>he</a:t>
            </a:r>
            <a:r>
              <a:rPr lang="en-US" sz="2499">
                <a:solidFill>
                  <a:srgbClr val="04223C"/>
                </a:solidFill>
                <a:latin typeface="Nourd"/>
                <a:ea typeface="Nourd"/>
                <a:cs typeface="Nourd"/>
                <a:sym typeface="Nourd"/>
              </a:rPr>
              <a:t>a</a:t>
            </a:r>
            <a:r>
              <a:rPr lang="en-US" sz="2499">
                <a:solidFill>
                  <a:srgbClr val="04223C"/>
                </a:solidFill>
                <a:latin typeface="Nourd"/>
                <a:ea typeface="Nourd"/>
                <a:cs typeface="Nourd"/>
                <a:sym typeface="Nourd"/>
              </a:rPr>
              <a:t>vily o</a:t>
            </a:r>
            <a:r>
              <a:rPr lang="en-US" sz="2499">
                <a:solidFill>
                  <a:srgbClr val="04223C"/>
                </a:solidFill>
                <a:latin typeface="Nourd"/>
                <a:ea typeface="Nourd"/>
                <a:cs typeface="Nourd"/>
                <a:sym typeface="Nourd"/>
              </a:rPr>
              <a:t>n</a:t>
            </a:r>
            <a:r>
              <a:rPr lang="en-US" sz="2499">
                <a:solidFill>
                  <a:srgbClr val="04223C"/>
                </a:solidFill>
                <a:latin typeface="Nourd"/>
                <a:ea typeface="Nourd"/>
                <a:cs typeface="Nourd"/>
                <a:sym typeface="Nourd"/>
              </a:rPr>
              <a:t> pa</a:t>
            </a:r>
            <a:r>
              <a:rPr lang="en-US" sz="2499">
                <a:solidFill>
                  <a:srgbClr val="04223C"/>
                </a:solidFill>
                <a:latin typeface="Nourd"/>
                <a:ea typeface="Nourd"/>
                <a:cs typeface="Nourd"/>
                <a:sym typeface="Nourd"/>
              </a:rPr>
              <a:t>t</a:t>
            </a:r>
            <a:r>
              <a:rPr lang="en-US" sz="2499">
                <a:solidFill>
                  <a:srgbClr val="04223C"/>
                </a:solidFill>
                <a:latin typeface="Nourd"/>
                <a:ea typeface="Nourd"/>
                <a:cs typeface="Nourd"/>
                <a:sym typeface="Nourd"/>
              </a:rPr>
              <a:t>h-spec</a:t>
            </a:r>
            <a:r>
              <a:rPr lang="en-US" sz="2499">
                <a:solidFill>
                  <a:srgbClr val="04223C"/>
                </a:solidFill>
                <a:latin typeface="Nourd"/>
                <a:ea typeface="Nourd"/>
                <a:cs typeface="Nourd"/>
                <a:sym typeface="Nourd"/>
              </a:rPr>
              <a:t>i</a:t>
            </a:r>
            <a:r>
              <a:rPr lang="en-US" sz="2499">
                <a:solidFill>
                  <a:srgbClr val="04223C"/>
                </a:solidFill>
                <a:latin typeface="Nourd"/>
                <a:ea typeface="Nourd"/>
                <a:cs typeface="Nourd"/>
                <a:sym typeface="Nourd"/>
              </a:rPr>
              <a:t>f</a:t>
            </a:r>
            <a:r>
              <a:rPr lang="en-US" sz="2499">
                <a:solidFill>
                  <a:srgbClr val="04223C"/>
                </a:solidFill>
                <a:latin typeface="Nourd"/>
                <a:ea typeface="Nourd"/>
                <a:cs typeface="Nourd"/>
                <a:sym typeface="Nourd"/>
              </a:rPr>
              <a:t>i</a:t>
            </a:r>
            <a:r>
              <a:rPr lang="en-US" sz="2499">
                <a:solidFill>
                  <a:srgbClr val="04223C"/>
                </a:solidFill>
                <a:latin typeface="Nourd"/>
                <a:ea typeface="Nourd"/>
                <a:cs typeface="Nourd"/>
                <a:sym typeface="Nourd"/>
              </a:rPr>
              <a:t>c</a:t>
            </a:r>
            <a:r>
              <a:rPr lang="en-US" sz="2499">
                <a:solidFill>
                  <a:srgbClr val="04223C"/>
                </a:solidFill>
                <a:latin typeface="Nourd"/>
                <a:ea typeface="Nourd"/>
                <a:cs typeface="Nourd"/>
                <a:sym typeface="Nourd"/>
              </a:rPr>
              <a:t> </a:t>
            </a:r>
            <a:r>
              <a:rPr lang="en-US" sz="2499">
                <a:solidFill>
                  <a:srgbClr val="04223C"/>
                </a:solidFill>
                <a:latin typeface="Nourd"/>
                <a:ea typeface="Nourd"/>
                <a:cs typeface="Nourd"/>
                <a:sym typeface="Nourd"/>
              </a:rPr>
              <a:t>m</a:t>
            </a:r>
            <a:r>
              <a:rPr lang="en-US" sz="2499">
                <a:solidFill>
                  <a:srgbClr val="04223C"/>
                </a:solidFill>
                <a:latin typeface="Nourd"/>
                <a:ea typeface="Nourd"/>
                <a:cs typeface="Nourd"/>
                <a:sym typeface="Nourd"/>
              </a:rPr>
              <a:t>o</a:t>
            </a:r>
            <a:r>
              <a:rPr lang="en-US" sz="2499">
                <a:solidFill>
                  <a:srgbClr val="04223C"/>
                </a:solidFill>
                <a:latin typeface="Nourd"/>
                <a:ea typeface="Nourd"/>
                <a:cs typeface="Nourd"/>
                <a:sym typeface="Nourd"/>
              </a:rPr>
              <a:t>nitorin</a:t>
            </a:r>
            <a:r>
              <a:rPr lang="en-US" sz="2499">
                <a:solidFill>
                  <a:srgbClr val="04223C"/>
                </a:solidFill>
                <a:latin typeface="Nourd"/>
                <a:ea typeface="Nourd"/>
                <a:cs typeface="Nourd"/>
                <a:sym typeface="Nourd"/>
              </a:rPr>
              <a:t>g</a:t>
            </a:r>
            <a:r>
              <a:rPr lang="en-US" sz="2499">
                <a:solidFill>
                  <a:srgbClr val="04223C"/>
                </a:solidFill>
                <a:latin typeface="Nourd"/>
                <a:ea typeface="Nourd"/>
                <a:cs typeface="Nourd"/>
                <a:sym typeface="Nourd"/>
              </a:rPr>
              <a:t> </a:t>
            </a:r>
            <a:r>
              <a:rPr lang="en-US" sz="2499">
                <a:solidFill>
                  <a:srgbClr val="04223C"/>
                </a:solidFill>
                <a:latin typeface="Nourd"/>
                <a:ea typeface="Nourd"/>
                <a:cs typeface="Nourd"/>
                <a:sym typeface="Nourd"/>
              </a:rPr>
              <a:t>ra</a:t>
            </a:r>
            <a:r>
              <a:rPr lang="en-US" sz="2499">
                <a:solidFill>
                  <a:srgbClr val="04223C"/>
                </a:solidFill>
                <a:latin typeface="Nourd"/>
                <a:ea typeface="Nourd"/>
                <a:cs typeface="Nourd"/>
                <a:sym typeface="Nourd"/>
              </a:rPr>
              <a:t>ther</a:t>
            </a:r>
            <a:r>
              <a:rPr lang="en-US" sz="2499">
                <a:solidFill>
                  <a:srgbClr val="04223C"/>
                </a:solidFill>
                <a:latin typeface="Nourd"/>
                <a:ea typeface="Nourd"/>
                <a:cs typeface="Nourd"/>
                <a:sym typeface="Nourd"/>
              </a:rPr>
              <a:t> </a:t>
            </a:r>
            <a:r>
              <a:rPr lang="en-US" sz="2499">
                <a:solidFill>
                  <a:srgbClr val="04223C"/>
                </a:solidFill>
                <a:latin typeface="Nourd"/>
                <a:ea typeface="Nourd"/>
                <a:cs typeface="Nourd"/>
                <a:sym typeface="Nourd"/>
              </a:rPr>
              <a:t>tha</a:t>
            </a:r>
            <a:r>
              <a:rPr lang="en-US" sz="2499">
                <a:solidFill>
                  <a:srgbClr val="04223C"/>
                </a:solidFill>
                <a:latin typeface="Nourd"/>
                <a:ea typeface="Nourd"/>
                <a:cs typeface="Nourd"/>
                <a:sym typeface="Nourd"/>
              </a:rPr>
              <a:t>n </a:t>
            </a:r>
            <a:r>
              <a:rPr lang="en-US" sz="2499">
                <a:solidFill>
                  <a:srgbClr val="04223C"/>
                </a:solidFill>
                <a:latin typeface="Nourd"/>
                <a:ea typeface="Nourd"/>
                <a:cs typeface="Nourd"/>
                <a:sym typeface="Nourd"/>
              </a:rPr>
              <a:t>be</a:t>
            </a:r>
            <a:r>
              <a:rPr lang="en-US" sz="2499">
                <a:solidFill>
                  <a:srgbClr val="04223C"/>
                </a:solidFill>
                <a:latin typeface="Nourd"/>
                <a:ea typeface="Nourd"/>
                <a:cs typeface="Nourd"/>
                <a:sym typeface="Nourd"/>
              </a:rPr>
              <a:t>ha</a:t>
            </a:r>
            <a:r>
              <a:rPr lang="en-US" sz="2499">
                <a:solidFill>
                  <a:srgbClr val="04223C"/>
                </a:solidFill>
                <a:latin typeface="Nourd"/>
                <a:ea typeface="Nourd"/>
                <a:cs typeface="Nourd"/>
                <a:sym typeface="Nourd"/>
              </a:rPr>
              <a:t>vioral a</a:t>
            </a:r>
            <a:r>
              <a:rPr lang="en-US" sz="2499">
                <a:solidFill>
                  <a:srgbClr val="04223C"/>
                </a:solidFill>
                <a:latin typeface="Nourd"/>
                <a:ea typeface="Nourd"/>
                <a:cs typeface="Nourd"/>
                <a:sym typeface="Nourd"/>
              </a:rPr>
              <a:t>n</a:t>
            </a:r>
            <a:r>
              <a:rPr lang="en-US" sz="2499">
                <a:solidFill>
                  <a:srgbClr val="04223C"/>
                </a:solidFill>
                <a:latin typeface="Nourd"/>
                <a:ea typeface="Nourd"/>
                <a:cs typeface="Nourd"/>
                <a:sym typeface="Nourd"/>
              </a:rPr>
              <a:t>a</a:t>
            </a:r>
            <a:r>
              <a:rPr lang="en-US" sz="2499">
                <a:solidFill>
                  <a:srgbClr val="04223C"/>
                </a:solidFill>
                <a:latin typeface="Nourd"/>
                <a:ea typeface="Nourd"/>
                <a:cs typeface="Nourd"/>
                <a:sym typeface="Nourd"/>
              </a:rPr>
              <a:t>l</a:t>
            </a:r>
            <a:r>
              <a:rPr lang="en-US" sz="2499">
                <a:solidFill>
                  <a:srgbClr val="04223C"/>
                </a:solidFill>
                <a:latin typeface="Nourd"/>
                <a:ea typeface="Nourd"/>
                <a:cs typeface="Nourd"/>
                <a:sym typeface="Nourd"/>
              </a:rPr>
              <a:t>ys</a:t>
            </a:r>
            <a:r>
              <a:rPr lang="en-US" sz="2499">
                <a:solidFill>
                  <a:srgbClr val="04223C"/>
                </a:solidFill>
                <a:latin typeface="Nourd"/>
                <a:ea typeface="Nourd"/>
                <a:cs typeface="Nourd"/>
                <a:sym typeface="Nourd"/>
              </a:rPr>
              <a:t>i</a:t>
            </a:r>
            <a:r>
              <a:rPr lang="en-US" sz="2499">
                <a:solidFill>
                  <a:srgbClr val="04223C"/>
                </a:solidFill>
                <a:latin typeface="Nourd"/>
                <a:ea typeface="Nourd"/>
                <a:cs typeface="Nourd"/>
                <a:sym typeface="Nourd"/>
              </a:rPr>
              <a:t>s. Its lo</a:t>
            </a:r>
            <a:r>
              <a:rPr lang="en-US" sz="2499">
                <a:solidFill>
                  <a:srgbClr val="04223C"/>
                </a:solidFill>
                <a:latin typeface="Nourd"/>
                <a:ea typeface="Nourd"/>
                <a:cs typeface="Nourd"/>
                <a:sym typeface="Nourd"/>
              </a:rPr>
              <a:t>ng</a:t>
            </a:r>
            <a:r>
              <a:rPr lang="en-US" sz="2499">
                <a:solidFill>
                  <a:srgbClr val="04223C"/>
                </a:solidFill>
                <a:latin typeface="Nourd"/>
                <a:ea typeface="Nourd"/>
                <a:cs typeface="Nourd"/>
                <a:sym typeface="Nourd"/>
              </a:rPr>
              <a:t>er</a:t>
            </a:r>
            <a:r>
              <a:rPr lang="en-US" sz="2499">
                <a:solidFill>
                  <a:srgbClr val="04223C"/>
                </a:solidFill>
                <a:latin typeface="Nourd"/>
                <a:ea typeface="Nourd"/>
                <a:cs typeface="Nourd"/>
                <a:sym typeface="Nourd"/>
              </a:rPr>
              <a:t> a</a:t>
            </a:r>
            <a:r>
              <a:rPr lang="en-US" sz="2499">
                <a:solidFill>
                  <a:srgbClr val="04223C"/>
                </a:solidFill>
                <a:latin typeface="Nourd"/>
                <a:ea typeface="Nourd"/>
                <a:cs typeface="Nourd"/>
                <a:sym typeface="Nourd"/>
              </a:rPr>
              <a:t>v</a:t>
            </a:r>
            <a:r>
              <a:rPr lang="en-US" sz="2499">
                <a:solidFill>
                  <a:srgbClr val="04223C"/>
                </a:solidFill>
                <a:latin typeface="Nourd"/>
                <a:ea typeface="Nourd"/>
                <a:cs typeface="Nourd"/>
                <a:sym typeface="Nourd"/>
              </a:rPr>
              <a:t>era</a:t>
            </a:r>
            <a:r>
              <a:rPr lang="en-US" sz="2499">
                <a:solidFill>
                  <a:srgbClr val="04223C"/>
                </a:solidFill>
                <a:latin typeface="Nourd"/>
                <a:ea typeface="Nourd"/>
                <a:cs typeface="Nourd"/>
                <a:sym typeface="Nourd"/>
              </a:rPr>
              <a:t>ge</a:t>
            </a:r>
            <a:r>
              <a:rPr lang="en-US" sz="2499">
                <a:solidFill>
                  <a:srgbClr val="04223C"/>
                </a:solidFill>
                <a:latin typeface="Nourd"/>
                <a:ea typeface="Nourd"/>
                <a:cs typeface="Nourd"/>
                <a:sym typeface="Nourd"/>
              </a:rPr>
              <a:t> r</a:t>
            </a:r>
            <a:r>
              <a:rPr lang="en-US" sz="2499">
                <a:solidFill>
                  <a:srgbClr val="04223C"/>
                </a:solidFill>
                <a:latin typeface="Nourd"/>
                <a:ea typeface="Nourd"/>
                <a:cs typeface="Nourd"/>
                <a:sym typeface="Nourd"/>
              </a:rPr>
              <a:t>untime (31,537 ms) is attributed </a:t>
            </a:r>
            <a:r>
              <a:rPr lang="en-US" sz="2499">
                <a:solidFill>
                  <a:srgbClr val="04223C"/>
                </a:solidFill>
                <a:latin typeface="Nourd"/>
                <a:ea typeface="Nourd"/>
                <a:cs typeface="Nourd"/>
                <a:sym typeface="Nourd"/>
              </a:rPr>
              <a:t>to</a:t>
            </a:r>
            <a:r>
              <a:rPr lang="en-US" sz="2499">
                <a:solidFill>
                  <a:srgbClr val="04223C"/>
                </a:solidFill>
                <a:latin typeface="Nourd"/>
                <a:ea typeface="Nourd"/>
                <a:cs typeface="Nourd"/>
                <a:sym typeface="Nourd"/>
              </a:rPr>
              <a:t> requi</a:t>
            </a:r>
            <a:r>
              <a:rPr lang="en-US" sz="2499">
                <a:solidFill>
                  <a:srgbClr val="04223C"/>
                </a:solidFill>
                <a:latin typeface="Nourd"/>
                <a:ea typeface="Nourd"/>
                <a:cs typeface="Nourd"/>
                <a:sym typeface="Nourd"/>
              </a:rPr>
              <a:t>r</a:t>
            </a:r>
            <a:r>
              <a:rPr lang="en-US" sz="2499">
                <a:solidFill>
                  <a:srgbClr val="04223C"/>
                </a:solidFill>
                <a:latin typeface="Nourd"/>
                <a:ea typeface="Nourd"/>
                <a:cs typeface="Nourd"/>
                <a:sym typeface="Nourd"/>
              </a:rPr>
              <a:t>i</a:t>
            </a:r>
            <a:r>
              <a:rPr lang="en-US" sz="2499">
                <a:solidFill>
                  <a:srgbClr val="04223C"/>
                </a:solidFill>
                <a:latin typeface="Nourd"/>
                <a:ea typeface="Nourd"/>
                <a:cs typeface="Nourd"/>
                <a:sym typeface="Nourd"/>
              </a:rPr>
              <a:t>n</a:t>
            </a:r>
            <a:r>
              <a:rPr lang="en-US" sz="2499">
                <a:solidFill>
                  <a:srgbClr val="04223C"/>
                </a:solidFill>
                <a:latin typeface="Nourd"/>
                <a:ea typeface="Nourd"/>
                <a:cs typeface="Nourd"/>
                <a:sym typeface="Nourd"/>
              </a:rPr>
              <a:t>g u</a:t>
            </a:r>
            <a:r>
              <a:rPr lang="en-US" sz="2499">
                <a:solidFill>
                  <a:srgbClr val="04223C"/>
                </a:solidFill>
                <a:latin typeface="Nourd"/>
                <a:ea typeface="Nourd"/>
                <a:cs typeface="Nourd"/>
                <a:sym typeface="Nourd"/>
              </a:rPr>
              <a:t>s</a:t>
            </a:r>
            <a:r>
              <a:rPr lang="en-US" sz="2499">
                <a:solidFill>
                  <a:srgbClr val="04223C"/>
                </a:solidFill>
                <a:latin typeface="Nourd"/>
                <a:ea typeface="Nourd"/>
                <a:cs typeface="Nourd"/>
                <a:sym typeface="Nourd"/>
              </a:rPr>
              <a:t>er c</a:t>
            </a:r>
            <a:r>
              <a:rPr lang="en-US" sz="2499">
                <a:solidFill>
                  <a:srgbClr val="04223C"/>
                </a:solidFill>
                <a:latin typeface="Nourd"/>
                <a:ea typeface="Nourd"/>
                <a:cs typeface="Nourd"/>
                <a:sym typeface="Nourd"/>
              </a:rPr>
              <a:t>o</a:t>
            </a:r>
            <a:r>
              <a:rPr lang="en-US" sz="2499">
                <a:solidFill>
                  <a:srgbClr val="04223C"/>
                </a:solidFill>
                <a:latin typeface="Nourd"/>
                <a:ea typeface="Nourd"/>
                <a:cs typeface="Nourd"/>
                <a:sym typeface="Nourd"/>
              </a:rPr>
              <a:t>nfir</a:t>
            </a:r>
            <a:r>
              <a:rPr lang="en-US" sz="2499">
                <a:solidFill>
                  <a:srgbClr val="04223C"/>
                </a:solidFill>
                <a:latin typeface="Nourd"/>
                <a:ea typeface="Nourd"/>
                <a:cs typeface="Nourd"/>
                <a:sym typeface="Nourd"/>
              </a:rPr>
              <a:t>ma</a:t>
            </a:r>
            <a:r>
              <a:rPr lang="en-US" sz="2499">
                <a:solidFill>
                  <a:srgbClr val="04223C"/>
                </a:solidFill>
                <a:latin typeface="Nourd"/>
                <a:ea typeface="Nourd"/>
                <a:cs typeface="Nourd"/>
                <a:sym typeface="Nourd"/>
              </a:rPr>
              <a:t>tion befo</a:t>
            </a:r>
            <a:r>
              <a:rPr lang="en-US" sz="2499">
                <a:solidFill>
                  <a:srgbClr val="04223C"/>
                </a:solidFill>
                <a:latin typeface="Nourd"/>
                <a:ea typeface="Nourd"/>
                <a:cs typeface="Nourd"/>
                <a:sym typeface="Nourd"/>
              </a:rPr>
              <a:t>re </a:t>
            </a:r>
            <a:r>
              <a:rPr lang="en-US" sz="2499">
                <a:solidFill>
                  <a:srgbClr val="04223C"/>
                </a:solidFill>
                <a:latin typeface="Nourd"/>
                <a:ea typeface="Nourd"/>
                <a:cs typeface="Nourd"/>
                <a:sym typeface="Nourd"/>
              </a:rPr>
              <a:t>qu</a:t>
            </a:r>
            <a:r>
              <a:rPr lang="en-US" sz="2499">
                <a:solidFill>
                  <a:srgbClr val="04223C"/>
                </a:solidFill>
                <a:latin typeface="Nourd"/>
                <a:ea typeface="Nourd"/>
                <a:cs typeface="Nourd"/>
                <a:sym typeface="Nourd"/>
              </a:rPr>
              <a:t>a</a:t>
            </a:r>
            <a:r>
              <a:rPr lang="en-US" sz="2499">
                <a:solidFill>
                  <a:srgbClr val="04223C"/>
                </a:solidFill>
                <a:latin typeface="Nourd"/>
                <a:ea typeface="Nourd"/>
                <a:cs typeface="Nourd"/>
                <a:sym typeface="Nourd"/>
              </a:rPr>
              <a:t>r</a:t>
            </a:r>
            <a:r>
              <a:rPr lang="en-US" sz="2499">
                <a:solidFill>
                  <a:srgbClr val="04223C"/>
                </a:solidFill>
                <a:latin typeface="Nourd"/>
                <a:ea typeface="Nourd"/>
                <a:cs typeface="Nourd"/>
                <a:sym typeface="Nourd"/>
              </a:rPr>
              <a:t>a</a:t>
            </a:r>
            <a:r>
              <a:rPr lang="en-US" sz="2499">
                <a:solidFill>
                  <a:srgbClr val="04223C"/>
                </a:solidFill>
                <a:latin typeface="Nourd"/>
                <a:ea typeface="Nourd"/>
                <a:cs typeface="Nourd"/>
                <a:sym typeface="Nourd"/>
              </a:rPr>
              <a:t>ntine.</a:t>
            </a:r>
          </a:p>
        </p:txBody>
      </p:sp>
      <p:sp>
        <p:nvSpPr>
          <p:cNvPr name="TextBox 24" id="24"/>
          <p:cNvSpPr txBox="true"/>
          <p:nvPr/>
        </p:nvSpPr>
        <p:spPr>
          <a:xfrm rot="0">
            <a:off x="4091925" y="5441605"/>
            <a:ext cx="13167375" cy="1298575"/>
          </a:xfrm>
          <a:prstGeom prst="rect">
            <a:avLst/>
          </a:prstGeom>
        </p:spPr>
        <p:txBody>
          <a:bodyPr anchor="t" rtlCol="false" tIns="0" lIns="0" bIns="0" rIns="0">
            <a:spAutoFit/>
          </a:bodyPr>
          <a:lstStyle/>
          <a:p>
            <a:pPr algn="just">
              <a:lnSpc>
                <a:spcPts val="3499"/>
              </a:lnSpc>
            </a:pPr>
            <a:r>
              <a:rPr lang="en-US" b="true" sz="2499">
                <a:solidFill>
                  <a:srgbClr val="04223C"/>
                </a:solidFill>
                <a:latin typeface="Nourd Bold"/>
                <a:ea typeface="Nourd Bold"/>
                <a:cs typeface="Nourd Bold"/>
                <a:sym typeface="Nourd Bold"/>
              </a:rPr>
              <a:t>Malwarebytes Premium Security</a:t>
            </a:r>
            <a:r>
              <a:rPr lang="en-US" sz="2499">
                <a:solidFill>
                  <a:srgbClr val="04223C"/>
                </a:solidFill>
                <a:latin typeface="Nourd"/>
                <a:ea typeface="Nourd"/>
                <a:cs typeface="Nourd"/>
                <a:sym typeface="Nourd"/>
              </a:rPr>
              <a:t> consistently flagged the attack after 4–6 files were encrypted, regardless of </a:t>
            </a:r>
            <a:r>
              <a:rPr lang="en-US" sz="2499">
                <a:solidFill>
                  <a:srgbClr val="04223C"/>
                </a:solidFill>
                <a:latin typeface="Nourd"/>
                <a:ea typeface="Nourd"/>
                <a:cs typeface="Nourd"/>
                <a:sym typeface="Nourd"/>
              </a:rPr>
              <a:t>de</a:t>
            </a:r>
            <a:r>
              <a:rPr lang="en-US" sz="2499">
                <a:solidFill>
                  <a:srgbClr val="04223C"/>
                </a:solidFill>
                <a:latin typeface="Nourd"/>
                <a:ea typeface="Nourd"/>
                <a:cs typeface="Nourd"/>
                <a:sym typeface="Nourd"/>
              </a:rPr>
              <a:t>lays, indi</a:t>
            </a:r>
            <a:r>
              <a:rPr lang="en-US" sz="2499">
                <a:solidFill>
                  <a:srgbClr val="04223C"/>
                </a:solidFill>
                <a:latin typeface="Nourd"/>
                <a:ea typeface="Nourd"/>
                <a:cs typeface="Nourd"/>
                <a:sym typeface="Nourd"/>
              </a:rPr>
              <a:t>c</a:t>
            </a:r>
            <a:r>
              <a:rPr lang="en-US" sz="2499">
                <a:solidFill>
                  <a:srgbClr val="04223C"/>
                </a:solidFill>
                <a:latin typeface="Nourd"/>
                <a:ea typeface="Nourd"/>
                <a:cs typeface="Nourd"/>
                <a:sym typeface="Nourd"/>
              </a:rPr>
              <a:t>a</a:t>
            </a:r>
            <a:r>
              <a:rPr lang="en-US" sz="2499">
                <a:solidFill>
                  <a:srgbClr val="04223C"/>
                </a:solidFill>
                <a:latin typeface="Nourd"/>
                <a:ea typeface="Nourd"/>
                <a:cs typeface="Nourd"/>
                <a:sym typeface="Nourd"/>
              </a:rPr>
              <a:t>tin</a:t>
            </a:r>
            <a:r>
              <a:rPr lang="en-US" sz="2499">
                <a:solidFill>
                  <a:srgbClr val="04223C"/>
                </a:solidFill>
                <a:latin typeface="Nourd"/>
                <a:ea typeface="Nourd"/>
                <a:cs typeface="Nourd"/>
                <a:sym typeface="Nourd"/>
              </a:rPr>
              <a:t>g</a:t>
            </a:r>
            <a:r>
              <a:rPr lang="en-US" sz="2499">
                <a:solidFill>
                  <a:srgbClr val="04223C"/>
                </a:solidFill>
                <a:latin typeface="Nourd"/>
                <a:ea typeface="Nourd"/>
                <a:cs typeface="Nourd"/>
                <a:sym typeface="Nourd"/>
              </a:rPr>
              <a:t> a</a:t>
            </a:r>
            <a:r>
              <a:rPr lang="en-US" sz="2499">
                <a:solidFill>
                  <a:srgbClr val="04223C"/>
                </a:solidFill>
                <a:latin typeface="Nourd"/>
                <a:ea typeface="Nourd"/>
                <a:cs typeface="Nourd"/>
                <a:sym typeface="Nourd"/>
              </a:rPr>
              <a:t> rule-based threshol</a:t>
            </a:r>
            <a:r>
              <a:rPr lang="en-US" sz="2499">
                <a:solidFill>
                  <a:srgbClr val="04223C"/>
                </a:solidFill>
                <a:latin typeface="Nourd"/>
                <a:ea typeface="Nourd"/>
                <a:cs typeface="Nourd"/>
                <a:sym typeface="Nourd"/>
              </a:rPr>
              <a:t>d m</a:t>
            </a:r>
            <a:r>
              <a:rPr lang="en-US" sz="2499">
                <a:solidFill>
                  <a:srgbClr val="04223C"/>
                </a:solidFill>
                <a:latin typeface="Nourd"/>
                <a:ea typeface="Nourd"/>
                <a:cs typeface="Nourd"/>
                <a:sym typeface="Nourd"/>
              </a:rPr>
              <a:t>ech</a:t>
            </a:r>
            <a:r>
              <a:rPr lang="en-US" sz="2499">
                <a:solidFill>
                  <a:srgbClr val="04223C"/>
                </a:solidFill>
                <a:latin typeface="Nourd"/>
                <a:ea typeface="Nourd"/>
                <a:cs typeface="Nourd"/>
                <a:sym typeface="Nourd"/>
              </a:rPr>
              <a:t>a</a:t>
            </a:r>
            <a:r>
              <a:rPr lang="en-US" sz="2499">
                <a:solidFill>
                  <a:srgbClr val="04223C"/>
                </a:solidFill>
                <a:latin typeface="Nourd"/>
                <a:ea typeface="Nourd"/>
                <a:cs typeface="Nourd"/>
                <a:sym typeface="Nourd"/>
              </a:rPr>
              <a:t>n</a:t>
            </a:r>
            <a:r>
              <a:rPr lang="en-US" sz="2499">
                <a:solidFill>
                  <a:srgbClr val="04223C"/>
                </a:solidFill>
                <a:latin typeface="Nourd"/>
                <a:ea typeface="Nourd"/>
                <a:cs typeface="Nourd"/>
                <a:sym typeface="Nourd"/>
              </a:rPr>
              <a:t>i</a:t>
            </a:r>
            <a:r>
              <a:rPr lang="en-US" sz="2499">
                <a:solidFill>
                  <a:srgbClr val="04223C"/>
                </a:solidFill>
                <a:latin typeface="Nourd"/>
                <a:ea typeface="Nourd"/>
                <a:cs typeface="Nourd"/>
                <a:sym typeface="Nourd"/>
              </a:rPr>
              <a:t>sm. E</a:t>
            </a:r>
            <a:r>
              <a:rPr lang="en-US" sz="2499">
                <a:solidFill>
                  <a:srgbClr val="04223C"/>
                </a:solidFill>
                <a:latin typeface="Nourd"/>
                <a:ea typeface="Nourd"/>
                <a:cs typeface="Nourd"/>
                <a:sym typeface="Nourd"/>
              </a:rPr>
              <a:t>nc</a:t>
            </a:r>
            <a:r>
              <a:rPr lang="en-US" sz="2499">
                <a:solidFill>
                  <a:srgbClr val="04223C"/>
                </a:solidFill>
                <a:latin typeface="Nourd"/>
                <a:ea typeface="Nourd"/>
                <a:cs typeface="Nourd"/>
                <a:sym typeface="Nourd"/>
              </a:rPr>
              <a:t>ry</a:t>
            </a:r>
            <a:r>
              <a:rPr lang="en-US" sz="2499">
                <a:solidFill>
                  <a:srgbClr val="04223C"/>
                </a:solidFill>
                <a:latin typeface="Nourd"/>
                <a:ea typeface="Nourd"/>
                <a:cs typeface="Nourd"/>
                <a:sym typeface="Nourd"/>
              </a:rPr>
              <a:t>p</a:t>
            </a:r>
            <a:r>
              <a:rPr lang="en-US" sz="2499">
                <a:solidFill>
                  <a:srgbClr val="04223C"/>
                </a:solidFill>
                <a:latin typeface="Nourd"/>
                <a:ea typeface="Nourd"/>
                <a:cs typeface="Nourd"/>
                <a:sym typeface="Nourd"/>
              </a:rPr>
              <a:t>ted f</a:t>
            </a:r>
            <a:r>
              <a:rPr lang="en-US" sz="2499">
                <a:solidFill>
                  <a:srgbClr val="04223C"/>
                </a:solidFill>
                <a:latin typeface="Nourd"/>
                <a:ea typeface="Nourd"/>
                <a:cs typeface="Nourd"/>
                <a:sym typeface="Nourd"/>
              </a:rPr>
              <a:t>iles</a:t>
            </a:r>
            <a:r>
              <a:rPr lang="en-US" sz="2499">
                <a:solidFill>
                  <a:srgbClr val="04223C"/>
                </a:solidFill>
                <a:latin typeface="Nourd"/>
                <a:ea typeface="Nourd"/>
                <a:cs typeface="Nourd"/>
                <a:sym typeface="Nourd"/>
              </a:rPr>
              <a:t> remained unrecoverable unless backups were pre-enabled. </a:t>
            </a:r>
          </a:p>
        </p:txBody>
      </p:sp>
      <p:sp>
        <p:nvSpPr>
          <p:cNvPr name="TextBox 25" id="25"/>
          <p:cNvSpPr txBox="true"/>
          <p:nvPr/>
        </p:nvSpPr>
        <p:spPr>
          <a:xfrm rot="0">
            <a:off x="4091925" y="7016405"/>
            <a:ext cx="13167375" cy="1298575"/>
          </a:xfrm>
          <a:prstGeom prst="rect">
            <a:avLst/>
          </a:prstGeom>
        </p:spPr>
        <p:txBody>
          <a:bodyPr anchor="t" rtlCol="false" tIns="0" lIns="0" bIns="0" rIns="0">
            <a:spAutoFit/>
          </a:bodyPr>
          <a:lstStyle/>
          <a:p>
            <a:pPr algn="just">
              <a:lnSpc>
                <a:spcPts val="3499"/>
              </a:lnSpc>
            </a:pPr>
            <a:r>
              <a:rPr lang="en-US" b="true" sz="2499">
                <a:solidFill>
                  <a:srgbClr val="04223C"/>
                </a:solidFill>
                <a:latin typeface="Nourd Bold"/>
                <a:ea typeface="Nourd Bold"/>
                <a:cs typeface="Nourd Bold"/>
                <a:sym typeface="Nourd Bold"/>
              </a:rPr>
              <a:t>Avast Premium Security</a:t>
            </a:r>
            <a:r>
              <a:rPr lang="en-US" sz="2499">
                <a:solidFill>
                  <a:srgbClr val="04223C"/>
                </a:solidFill>
                <a:latin typeface="Nourd"/>
                <a:ea typeface="Nourd"/>
                <a:cs typeface="Nourd"/>
                <a:sym typeface="Nourd"/>
              </a:rPr>
              <a:t>, meanwhile, prevented the </a:t>
            </a:r>
            <a:r>
              <a:rPr lang="en-US" sz="2499">
                <a:solidFill>
                  <a:srgbClr val="04223C"/>
                </a:solidFill>
                <a:latin typeface="Nourd"/>
                <a:ea typeface="Nourd"/>
                <a:cs typeface="Nourd"/>
                <a:sym typeface="Nourd"/>
              </a:rPr>
              <a:t>ransomware f</a:t>
            </a:r>
            <a:r>
              <a:rPr lang="en-US" sz="2499">
                <a:solidFill>
                  <a:srgbClr val="04223C"/>
                </a:solidFill>
                <a:latin typeface="Nourd"/>
                <a:ea typeface="Nourd"/>
                <a:cs typeface="Nourd"/>
                <a:sym typeface="Nourd"/>
              </a:rPr>
              <a:t>rom executing entirely, terminating it with an Access Denied error, an evidence of strong dynamic behavior analysis.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3451814" y="2646567"/>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3451814" y="5480210"/>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3759899" y="2914571"/>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5400000">
            <a:off x="-3759899" y="5748214"/>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0800000">
            <a:off x="-312917" y="1711428"/>
            <a:ext cx="1883948" cy="1883948"/>
          </a:xfrm>
          <a:custGeom>
            <a:avLst/>
            <a:gdLst/>
            <a:ahLst/>
            <a:cxnLst/>
            <a:rect r="r" b="b" t="t" l="l"/>
            <a:pathLst>
              <a:path h="1883948" w="1883948">
                <a:moveTo>
                  <a:pt x="0" y="0"/>
                </a:moveTo>
                <a:lnTo>
                  <a:pt x="1883948" y="0"/>
                </a:lnTo>
                <a:lnTo>
                  <a:pt x="1883948" y="1883948"/>
                </a:lnTo>
                <a:lnTo>
                  <a:pt x="0" y="18839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5400000">
            <a:off x="1738434" y="1711428"/>
            <a:ext cx="1202677" cy="1202677"/>
          </a:xfrm>
          <a:custGeom>
            <a:avLst/>
            <a:gdLst/>
            <a:ahLst/>
            <a:cxnLst/>
            <a:rect r="r" b="b" t="t" l="l"/>
            <a:pathLst>
              <a:path h="1202677" w="1202677">
                <a:moveTo>
                  <a:pt x="0" y="0"/>
                </a:moveTo>
                <a:lnTo>
                  <a:pt x="1202676" y="0"/>
                </a:lnTo>
                <a:lnTo>
                  <a:pt x="1202676" y="1202677"/>
                </a:lnTo>
                <a:lnTo>
                  <a:pt x="0" y="12026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10800000">
            <a:off x="1706937" y="425887"/>
            <a:ext cx="1168661" cy="1168661"/>
          </a:xfrm>
          <a:custGeom>
            <a:avLst/>
            <a:gdLst/>
            <a:ahLst/>
            <a:cxnLst/>
            <a:rect r="r" b="b" t="t" l="l"/>
            <a:pathLst>
              <a:path h="1168661" w="1168661">
                <a:moveTo>
                  <a:pt x="0" y="0"/>
                </a:moveTo>
                <a:lnTo>
                  <a:pt x="1168660" y="0"/>
                </a:lnTo>
                <a:lnTo>
                  <a:pt x="1168660" y="1168661"/>
                </a:lnTo>
                <a:lnTo>
                  <a:pt x="0" y="11686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5494193">
            <a:off x="-288851" y="-317006"/>
            <a:ext cx="1886072" cy="1886072"/>
          </a:xfrm>
          <a:custGeom>
            <a:avLst/>
            <a:gdLst/>
            <a:ahLst/>
            <a:cxnLst/>
            <a:rect r="r" b="b" t="t" l="l"/>
            <a:pathLst>
              <a:path h="1886072" w="1886072">
                <a:moveTo>
                  <a:pt x="0" y="0"/>
                </a:moveTo>
                <a:lnTo>
                  <a:pt x="1886071" y="0"/>
                </a:lnTo>
                <a:lnTo>
                  <a:pt x="1886071" y="1886072"/>
                </a:lnTo>
                <a:lnTo>
                  <a:pt x="0" y="18860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10800000">
            <a:off x="2875597" y="9336132"/>
            <a:ext cx="4888040" cy="1015888"/>
          </a:xfrm>
          <a:custGeom>
            <a:avLst/>
            <a:gdLst/>
            <a:ahLst/>
            <a:cxnLst/>
            <a:rect r="r" b="b" t="t" l="l"/>
            <a:pathLst>
              <a:path h="1015888" w="4888040">
                <a:moveTo>
                  <a:pt x="0" y="0"/>
                </a:moveTo>
                <a:lnTo>
                  <a:pt x="4888041" y="0"/>
                </a:lnTo>
                <a:lnTo>
                  <a:pt x="4888041"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10800000">
            <a:off x="7782688" y="9337492"/>
            <a:ext cx="4888040" cy="1015888"/>
          </a:xfrm>
          <a:custGeom>
            <a:avLst/>
            <a:gdLst/>
            <a:ahLst/>
            <a:cxnLst/>
            <a:rect r="r" b="b" t="t" l="l"/>
            <a:pathLst>
              <a:path h="1015888" w="4888040">
                <a:moveTo>
                  <a:pt x="0" y="0"/>
                </a:moveTo>
                <a:lnTo>
                  <a:pt x="4888040" y="0"/>
                </a:lnTo>
                <a:lnTo>
                  <a:pt x="4888040"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10800000">
            <a:off x="12689778" y="9338853"/>
            <a:ext cx="4888040" cy="1015888"/>
          </a:xfrm>
          <a:custGeom>
            <a:avLst/>
            <a:gdLst/>
            <a:ahLst/>
            <a:cxnLst/>
            <a:rect r="r" b="b" t="t" l="l"/>
            <a:pathLst>
              <a:path h="1015888" w="4888040">
                <a:moveTo>
                  <a:pt x="0" y="0"/>
                </a:moveTo>
                <a:lnTo>
                  <a:pt x="4888040" y="0"/>
                </a:lnTo>
                <a:lnTo>
                  <a:pt x="4888040"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grpSp>
        <p:nvGrpSpPr>
          <p:cNvPr name="Group 13" id="13"/>
          <p:cNvGrpSpPr/>
          <p:nvPr/>
        </p:nvGrpSpPr>
        <p:grpSpPr>
          <a:xfrm rot="0">
            <a:off x="2875597" y="9127948"/>
            <a:ext cx="15731854" cy="1880081"/>
            <a:chOff x="0" y="0"/>
            <a:chExt cx="4143369" cy="495165"/>
          </a:xfrm>
        </p:grpSpPr>
        <p:sp>
          <p:nvSpPr>
            <p:cNvPr name="Freeform 14" id="14"/>
            <p:cNvSpPr/>
            <p:nvPr/>
          </p:nvSpPr>
          <p:spPr>
            <a:xfrm flipH="false" flipV="false" rot="0">
              <a:off x="0" y="0"/>
              <a:ext cx="4143369" cy="495165"/>
            </a:xfrm>
            <a:custGeom>
              <a:avLst/>
              <a:gdLst/>
              <a:ahLst/>
              <a:cxnLst/>
              <a:rect r="r" b="b" t="t" l="l"/>
              <a:pathLst>
                <a:path h="495165" w="4143369">
                  <a:moveTo>
                    <a:pt x="0" y="0"/>
                  </a:moveTo>
                  <a:lnTo>
                    <a:pt x="4143369" y="0"/>
                  </a:lnTo>
                  <a:lnTo>
                    <a:pt x="4143369" y="495165"/>
                  </a:lnTo>
                  <a:lnTo>
                    <a:pt x="0" y="495165"/>
                  </a:lnTo>
                  <a:close/>
                </a:path>
              </a:pathLst>
            </a:custGeom>
            <a:gradFill rotWithShape="true">
              <a:gsLst>
                <a:gs pos="0">
                  <a:srgbClr val="FFFFFF">
                    <a:alpha val="100000"/>
                  </a:srgbClr>
                </a:gs>
                <a:gs pos="33333">
                  <a:srgbClr val="FFFFFF">
                    <a:alpha val="71000"/>
                  </a:srgbClr>
                </a:gs>
                <a:gs pos="66667">
                  <a:srgbClr val="FFFFFF">
                    <a:alpha val="54000"/>
                  </a:srgbClr>
                </a:gs>
                <a:gs pos="100000">
                  <a:srgbClr val="FFFFFF">
                    <a:alpha val="21500"/>
                  </a:srgbClr>
                </a:gs>
              </a:gsLst>
              <a:lin ang="5400000"/>
            </a:gradFill>
          </p:spPr>
        </p:sp>
        <p:sp>
          <p:nvSpPr>
            <p:cNvPr name="TextBox 15" id="15"/>
            <p:cNvSpPr txBox="true"/>
            <p:nvPr/>
          </p:nvSpPr>
          <p:spPr>
            <a:xfrm>
              <a:off x="0" y="-38100"/>
              <a:ext cx="4143369" cy="533265"/>
            </a:xfrm>
            <a:prstGeom prst="rect">
              <a:avLst/>
            </a:prstGeom>
          </p:spPr>
          <p:txBody>
            <a:bodyPr anchor="ctr" rtlCol="false" tIns="50800" lIns="50800" bIns="50800" rIns="50800"/>
            <a:lstStyle/>
            <a:p>
              <a:pPr algn="ctr">
                <a:lnSpc>
                  <a:spcPts val="2078"/>
                </a:lnSpc>
              </a:pPr>
            </a:p>
          </p:txBody>
        </p:sp>
      </p:grpSp>
      <p:sp>
        <p:nvSpPr>
          <p:cNvPr name="Freeform 16" id="16"/>
          <p:cNvSpPr/>
          <p:nvPr/>
        </p:nvSpPr>
        <p:spPr>
          <a:xfrm flipH="false" flipV="false" rot="-10800000">
            <a:off x="10116522" y="9222171"/>
            <a:ext cx="9281250" cy="4640625"/>
          </a:xfrm>
          <a:custGeom>
            <a:avLst/>
            <a:gdLst/>
            <a:ahLst/>
            <a:cxnLst/>
            <a:rect r="r" b="b" t="t" l="l"/>
            <a:pathLst>
              <a:path h="4640625" w="9281250">
                <a:moveTo>
                  <a:pt x="0" y="0"/>
                </a:moveTo>
                <a:lnTo>
                  <a:pt x="9281250" y="0"/>
                </a:lnTo>
                <a:lnTo>
                  <a:pt x="9281250" y="4640625"/>
                </a:lnTo>
                <a:lnTo>
                  <a:pt x="0" y="46406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false" rot="-10800000">
            <a:off x="971550" y="-3324521"/>
            <a:ext cx="7334017" cy="3667009"/>
          </a:xfrm>
          <a:custGeom>
            <a:avLst/>
            <a:gdLst/>
            <a:ahLst/>
            <a:cxnLst/>
            <a:rect r="r" b="b" t="t" l="l"/>
            <a:pathLst>
              <a:path h="3667009" w="7334017">
                <a:moveTo>
                  <a:pt x="7334017" y="0"/>
                </a:moveTo>
                <a:lnTo>
                  <a:pt x="0" y="0"/>
                </a:lnTo>
                <a:lnTo>
                  <a:pt x="0" y="3667009"/>
                </a:lnTo>
                <a:lnTo>
                  <a:pt x="7334017" y="3667009"/>
                </a:lnTo>
                <a:lnTo>
                  <a:pt x="7334017"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8" id="18"/>
          <p:cNvGrpSpPr/>
          <p:nvPr/>
        </p:nvGrpSpPr>
        <p:grpSpPr>
          <a:xfrm rot="-10800000">
            <a:off x="8268687" y="-342488"/>
            <a:ext cx="10923063" cy="684975"/>
            <a:chOff x="0" y="0"/>
            <a:chExt cx="2891335" cy="181313"/>
          </a:xfrm>
        </p:grpSpPr>
        <p:sp>
          <p:nvSpPr>
            <p:cNvPr name="Freeform 19" id="19"/>
            <p:cNvSpPr/>
            <p:nvPr/>
          </p:nvSpPr>
          <p:spPr>
            <a:xfrm flipH="false" flipV="false" rot="0">
              <a:off x="0" y="0"/>
              <a:ext cx="2891335" cy="181313"/>
            </a:xfrm>
            <a:custGeom>
              <a:avLst/>
              <a:gdLst/>
              <a:ahLst/>
              <a:cxnLst/>
              <a:rect r="r" b="b" t="t" l="l"/>
              <a:pathLst>
                <a:path h="181313" w="2891335">
                  <a:moveTo>
                    <a:pt x="0" y="0"/>
                  </a:moveTo>
                  <a:lnTo>
                    <a:pt x="2891335" y="0"/>
                  </a:lnTo>
                  <a:lnTo>
                    <a:pt x="2891335" y="181313"/>
                  </a:lnTo>
                  <a:lnTo>
                    <a:pt x="0" y="181313"/>
                  </a:lnTo>
                  <a:close/>
                </a:path>
              </a:pathLst>
            </a:custGeom>
            <a:solidFill>
              <a:srgbClr val="04223C"/>
            </a:solidFill>
          </p:spPr>
        </p:sp>
        <p:sp>
          <p:nvSpPr>
            <p:cNvPr name="TextBox 20" id="20"/>
            <p:cNvSpPr txBox="true"/>
            <p:nvPr/>
          </p:nvSpPr>
          <p:spPr>
            <a:xfrm>
              <a:off x="0" y="-38100"/>
              <a:ext cx="2891335" cy="219413"/>
            </a:xfrm>
            <a:prstGeom prst="rect">
              <a:avLst/>
            </a:prstGeom>
          </p:spPr>
          <p:txBody>
            <a:bodyPr anchor="ctr" rtlCol="false" tIns="48876" lIns="48876" bIns="48876" rIns="48876"/>
            <a:lstStyle/>
            <a:p>
              <a:pPr algn="ctr">
                <a:lnSpc>
                  <a:spcPts val="2078"/>
                </a:lnSpc>
              </a:pPr>
            </a:p>
          </p:txBody>
        </p:sp>
      </p:grpSp>
      <p:sp>
        <p:nvSpPr>
          <p:cNvPr name="Freeform 21" id="21"/>
          <p:cNvSpPr/>
          <p:nvPr/>
        </p:nvSpPr>
        <p:spPr>
          <a:xfrm flipH="false" flipV="true" rot="0">
            <a:off x="4177183" y="2916301"/>
            <a:ext cx="729379" cy="729379"/>
          </a:xfrm>
          <a:custGeom>
            <a:avLst/>
            <a:gdLst/>
            <a:ahLst/>
            <a:cxnLst/>
            <a:rect r="r" b="b" t="t" l="l"/>
            <a:pathLst>
              <a:path h="729379" w="729379">
                <a:moveTo>
                  <a:pt x="0" y="729380"/>
                </a:moveTo>
                <a:lnTo>
                  <a:pt x="729379" y="729380"/>
                </a:lnTo>
                <a:lnTo>
                  <a:pt x="729379" y="0"/>
                </a:lnTo>
                <a:lnTo>
                  <a:pt x="0" y="0"/>
                </a:lnTo>
                <a:lnTo>
                  <a:pt x="0" y="72938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2" id="22"/>
          <p:cNvSpPr txBox="true"/>
          <p:nvPr/>
        </p:nvSpPr>
        <p:spPr>
          <a:xfrm rot="0">
            <a:off x="4091925" y="1224570"/>
            <a:ext cx="11425142" cy="1152525"/>
          </a:xfrm>
          <a:prstGeom prst="rect">
            <a:avLst/>
          </a:prstGeom>
        </p:spPr>
        <p:txBody>
          <a:bodyPr anchor="t" rtlCol="false" tIns="0" lIns="0" bIns="0" rIns="0">
            <a:spAutoFit/>
          </a:bodyPr>
          <a:lstStyle/>
          <a:p>
            <a:pPr algn="l">
              <a:lnSpc>
                <a:spcPts val="9150"/>
              </a:lnSpc>
            </a:pPr>
            <a:r>
              <a:rPr lang="en-US" sz="7500" b="true">
                <a:solidFill>
                  <a:srgbClr val="40A8CD"/>
                </a:solidFill>
                <a:latin typeface="Nourd Bold"/>
                <a:ea typeface="Nourd Bold"/>
                <a:cs typeface="Nourd Bold"/>
                <a:sym typeface="Nourd Bold"/>
              </a:rPr>
              <a:t>Conclusion</a:t>
            </a:r>
          </a:p>
        </p:txBody>
      </p:sp>
      <p:sp>
        <p:nvSpPr>
          <p:cNvPr name="TextBox 23" id="23"/>
          <p:cNvSpPr txBox="true"/>
          <p:nvPr/>
        </p:nvSpPr>
        <p:spPr>
          <a:xfrm rot="0">
            <a:off x="8918605" y="9545467"/>
            <a:ext cx="8822879" cy="422275"/>
          </a:xfrm>
          <a:prstGeom prst="rect">
            <a:avLst/>
          </a:prstGeom>
        </p:spPr>
        <p:txBody>
          <a:bodyPr anchor="t" rtlCol="false" tIns="0" lIns="0" bIns="0" rIns="0">
            <a:spAutoFit/>
          </a:bodyPr>
          <a:lstStyle/>
          <a:p>
            <a:pPr algn="r">
              <a:lnSpc>
                <a:spcPts val="3499"/>
              </a:lnSpc>
            </a:pPr>
            <a:r>
              <a:rPr lang="en-US" sz="2499">
                <a:solidFill>
                  <a:srgbClr val="4E4E4E"/>
                </a:solidFill>
                <a:latin typeface="Nourd"/>
                <a:ea typeface="Nourd"/>
                <a:cs typeface="Nourd"/>
                <a:sym typeface="Nourd"/>
              </a:rPr>
              <a:t>ICoDSE | 2025</a:t>
            </a:r>
          </a:p>
        </p:txBody>
      </p:sp>
      <p:sp>
        <p:nvSpPr>
          <p:cNvPr name="TextBox 24" id="24"/>
          <p:cNvSpPr txBox="true"/>
          <p:nvPr/>
        </p:nvSpPr>
        <p:spPr>
          <a:xfrm rot="0">
            <a:off x="4771683" y="3330052"/>
            <a:ext cx="11939683" cy="1736725"/>
          </a:xfrm>
          <a:prstGeom prst="rect">
            <a:avLst/>
          </a:prstGeom>
        </p:spPr>
        <p:txBody>
          <a:bodyPr anchor="t" rtlCol="false" tIns="0" lIns="0" bIns="0" rIns="0">
            <a:spAutoFit/>
          </a:bodyPr>
          <a:lstStyle/>
          <a:p>
            <a:pPr algn="just">
              <a:lnSpc>
                <a:spcPts val="3499"/>
              </a:lnSpc>
            </a:pPr>
            <a:r>
              <a:rPr lang="en-US" sz="2499">
                <a:solidFill>
                  <a:srgbClr val="04223C"/>
                </a:solidFill>
                <a:latin typeface="Nourd"/>
                <a:ea typeface="Nourd"/>
                <a:cs typeface="Nourd"/>
                <a:sym typeface="Nourd"/>
              </a:rPr>
              <a:t>The different encryption settings did not significantly affect antivirus detection; outcomes mainly depended on the type of antivirus. The ransomware was able to </a:t>
            </a:r>
            <a:r>
              <a:rPr lang="en-US" b="true" sz="2499">
                <a:solidFill>
                  <a:srgbClr val="04223C"/>
                </a:solidFill>
                <a:latin typeface="Nourd Bold"/>
                <a:ea typeface="Nourd Bold"/>
                <a:cs typeface="Nourd Bold"/>
                <a:sym typeface="Nourd Bold"/>
              </a:rPr>
              <a:t>encrypt all files undetected</a:t>
            </a:r>
            <a:r>
              <a:rPr lang="en-US" sz="2499">
                <a:solidFill>
                  <a:srgbClr val="04223C"/>
                </a:solidFill>
                <a:latin typeface="Nourd"/>
                <a:ea typeface="Nourd"/>
                <a:cs typeface="Nourd"/>
                <a:sym typeface="Nourd"/>
              </a:rPr>
              <a:t> when tested against </a:t>
            </a:r>
            <a:r>
              <a:rPr lang="en-US" b="true" sz="2499">
                <a:solidFill>
                  <a:srgbClr val="04223C"/>
                </a:solidFill>
                <a:latin typeface="Nourd Bold"/>
                <a:ea typeface="Nourd Bold"/>
                <a:cs typeface="Nourd Bold"/>
                <a:sym typeface="Nourd Bold"/>
              </a:rPr>
              <a:t>Windows Defender</a:t>
            </a:r>
            <a:r>
              <a:rPr lang="en-US" sz="2499">
                <a:solidFill>
                  <a:srgbClr val="04223C"/>
                </a:solidFill>
                <a:latin typeface="Nourd"/>
                <a:ea typeface="Nourd"/>
                <a:cs typeface="Nourd"/>
                <a:sym typeface="Nourd"/>
              </a:rPr>
              <a:t> and </a:t>
            </a:r>
            <a:r>
              <a:rPr lang="en-US" b="true" sz="2499">
                <a:solidFill>
                  <a:srgbClr val="04223C"/>
                </a:solidFill>
                <a:latin typeface="Nourd Bold"/>
                <a:ea typeface="Nourd Bold"/>
                <a:cs typeface="Nourd Bold"/>
                <a:sym typeface="Nourd Bold"/>
              </a:rPr>
              <a:t>McAfee</a:t>
            </a:r>
            <a:r>
              <a:rPr lang="en-US" sz="2499">
                <a:solidFill>
                  <a:srgbClr val="04223C"/>
                </a:solidFill>
                <a:latin typeface="Nourd"/>
                <a:ea typeface="Nourd"/>
                <a:cs typeface="Nourd"/>
                <a:sym typeface="Nourd"/>
              </a:rPr>
              <a:t>, showing that both lacked effective behavioral detection for new threats.</a:t>
            </a:r>
          </a:p>
        </p:txBody>
      </p:sp>
      <p:sp>
        <p:nvSpPr>
          <p:cNvPr name="Freeform 25" id="25"/>
          <p:cNvSpPr/>
          <p:nvPr/>
        </p:nvSpPr>
        <p:spPr>
          <a:xfrm flipH="false" flipV="true" rot="0">
            <a:off x="4091925" y="5809251"/>
            <a:ext cx="729379" cy="729379"/>
          </a:xfrm>
          <a:custGeom>
            <a:avLst/>
            <a:gdLst/>
            <a:ahLst/>
            <a:cxnLst/>
            <a:rect r="r" b="b" t="t" l="l"/>
            <a:pathLst>
              <a:path h="729379" w="729379">
                <a:moveTo>
                  <a:pt x="0" y="729379"/>
                </a:moveTo>
                <a:lnTo>
                  <a:pt x="729379" y="729379"/>
                </a:lnTo>
                <a:lnTo>
                  <a:pt x="729379" y="0"/>
                </a:lnTo>
                <a:lnTo>
                  <a:pt x="0" y="0"/>
                </a:lnTo>
                <a:lnTo>
                  <a:pt x="0" y="729379"/>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6" id="26"/>
          <p:cNvSpPr txBox="true"/>
          <p:nvPr/>
        </p:nvSpPr>
        <p:spPr>
          <a:xfrm rot="0">
            <a:off x="4686424" y="6223001"/>
            <a:ext cx="11939683" cy="2174875"/>
          </a:xfrm>
          <a:prstGeom prst="rect">
            <a:avLst/>
          </a:prstGeom>
        </p:spPr>
        <p:txBody>
          <a:bodyPr anchor="t" rtlCol="false" tIns="0" lIns="0" bIns="0" rIns="0">
            <a:spAutoFit/>
          </a:bodyPr>
          <a:lstStyle/>
          <a:p>
            <a:pPr algn="just">
              <a:lnSpc>
                <a:spcPts val="3499"/>
              </a:lnSpc>
            </a:pPr>
            <a:r>
              <a:rPr lang="en-US" sz="2499">
                <a:solidFill>
                  <a:srgbClr val="04223C"/>
                </a:solidFill>
                <a:latin typeface="Nourd"/>
                <a:ea typeface="Nourd"/>
                <a:cs typeface="Nourd"/>
                <a:sym typeface="Nourd"/>
              </a:rPr>
              <a:t>In contrast, </a:t>
            </a:r>
            <a:r>
              <a:rPr lang="en-US" b="true" sz="2499">
                <a:solidFill>
                  <a:srgbClr val="04223C"/>
                </a:solidFill>
                <a:latin typeface="Nourd Bold"/>
                <a:ea typeface="Nourd Bold"/>
                <a:cs typeface="Nourd Bold"/>
                <a:sym typeface="Nourd Bold"/>
              </a:rPr>
              <a:t>Norton</a:t>
            </a:r>
            <a:r>
              <a:rPr lang="en-US" sz="2499">
                <a:solidFill>
                  <a:srgbClr val="04223C"/>
                </a:solidFill>
                <a:latin typeface="Nourd"/>
                <a:ea typeface="Nourd"/>
                <a:cs typeface="Nourd"/>
                <a:sym typeface="Nourd"/>
              </a:rPr>
              <a:t> detected the ransomware only in certain folders, suggesting it relies on directory-based monitoring. </a:t>
            </a:r>
            <a:r>
              <a:rPr lang="en-US" b="true" sz="2499">
                <a:solidFill>
                  <a:srgbClr val="04223C"/>
                </a:solidFill>
                <a:latin typeface="Nourd Bold"/>
                <a:ea typeface="Nourd Bold"/>
                <a:cs typeface="Nourd Bold"/>
                <a:sym typeface="Nourd Bold"/>
              </a:rPr>
              <a:t>Malwarebytes</a:t>
            </a:r>
            <a:r>
              <a:rPr lang="en-US" sz="2499">
                <a:solidFill>
                  <a:srgbClr val="04223C"/>
                </a:solidFill>
                <a:latin typeface="Nourd"/>
                <a:ea typeface="Nourd"/>
                <a:cs typeface="Nourd"/>
                <a:sym typeface="Nourd"/>
              </a:rPr>
              <a:t> stopped the attack after encrypting 4–6 files, indicating a rule-based threshold system. </a:t>
            </a:r>
            <a:r>
              <a:rPr lang="en-US" b="true" sz="2499">
                <a:solidFill>
                  <a:srgbClr val="04223C"/>
                </a:solidFill>
                <a:latin typeface="Nourd Bold"/>
                <a:ea typeface="Nourd Bold"/>
                <a:cs typeface="Nourd Bold"/>
                <a:sym typeface="Nourd Bold"/>
              </a:rPr>
              <a:t>Avast</a:t>
            </a:r>
            <a:r>
              <a:rPr lang="en-US" sz="2499">
                <a:solidFill>
                  <a:srgbClr val="04223C"/>
                </a:solidFill>
                <a:latin typeface="Nourd"/>
                <a:ea typeface="Nourd"/>
                <a:cs typeface="Nourd"/>
                <a:sym typeface="Nourd"/>
              </a:rPr>
              <a:t>, however, blocked execution entirely, showing the use of dynamic behavioral analysis that prevented the ransomware from running at all.</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3451814" y="2646567"/>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3451814" y="5480210"/>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3759899" y="2914571"/>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5400000">
            <a:off x="-3759899" y="5748214"/>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0800000">
            <a:off x="-312917" y="1711428"/>
            <a:ext cx="1883948" cy="1883948"/>
          </a:xfrm>
          <a:custGeom>
            <a:avLst/>
            <a:gdLst/>
            <a:ahLst/>
            <a:cxnLst/>
            <a:rect r="r" b="b" t="t" l="l"/>
            <a:pathLst>
              <a:path h="1883948" w="1883948">
                <a:moveTo>
                  <a:pt x="0" y="0"/>
                </a:moveTo>
                <a:lnTo>
                  <a:pt x="1883948" y="0"/>
                </a:lnTo>
                <a:lnTo>
                  <a:pt x="1883948" y="1883948"/>
                </a:lnTo>
                <a:lnTo>
                  <a:pt x="0" y="18839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5400000">
            <a:off x="1738434" y="1711428"/>
            <a:ext cx="1202677" cy="1202677"/>
          </a:xfrm>
          <a:custGeom>
            <a:avLst/>
            <a:gdLst/>
            <a:ahLst/>
            <a:cxnLst/>
            <a:rect r="r" b="b" t="t" l="l"/>
            <a:pathLst>
              <a:path h="1202677" w="1202677">
                <a:moveTo>
                  <a:pt x="0" y="0"/>
                </a:moveTo>
                <a:lnTo>
                  <a:pt x="1202676" y="0"/>
                </a:lnTo>
                <a:lnTo>
                  <a:pt x="1202676" y="1202677"/>
                </a:lnTo>
                <a:lnTo>
                  <a:pt x="0" y="12026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10800000">
            <a:off x="1706937" y="425887"/>
            <a:ext cx="1168661" cy="1168661"/>
          </a:xfrm>
          <a:custGeom>
            <a:avLst/>
            <a:gdLst/>
            <a:ahLst/>
            <a:cxnLst/>
            <a:rect r="r" b="b" t="t" l="l"/>
            <a:pathLst>
              <a:path h="1168661" w="1168661">
                <a:moveTo>
                  <a:pt x="0" y="0"/>
                </a:moveTo>
                <a:lnTo>
                  <a:pt x="1168660" y="0"/>
                </a:lnTo>
                <a:lnTo>
                  <a:pt x="1168660" y="1168661"/>
                </a:lnTo>
                <a:lnTo>
                  <a:pt x="0" y="116866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5494193">
            <a:off x="-288851" y="-317006"/>
            <a:ext cx="1886072" cy="1886072"/>
          </a:xfrm>
          <a:custGeom>
            <a:avLst/>
            <a:gdLst/>
            <a:ahLst/>
            <a:cxnLst/>
            <a:rect r="r" b="b" t="t" l="l"/>
            <a:pathLst>
              <a:path h="1886072" w="1886072">
                <a:moveTo>
                  <a:pt x="0" y="0"/>
                </a:moveTo>
                <a:lnTo>
                  <a:pt x="1886071" y="0"/>
                </a:lnTo>
                <a:lnTo>
                  <a:pt x="1886071" y="1886072"/>
                </a:lnTo>
                <a:lnTo>
                  <a:pt x="0" y="188607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10800000">
            <a:off x="2875597" y="9336132"/>
            <a:ext cx="4888040" cy="1015888"/>
          </a:xfrm>
          <a:custGeom>
            <a:avLst/>
            <a:gdLst/>
            <a:ahLst/>
            <a:cxnLst/>
            <a:rect r="r" b="b" t="t" l="l"/>
            <a:pathLst>
              <a:path h="1015888" w="4888040">
                <a:moveTo>
                  <a:pt x="0" y="0"/>
                </a:moveTo>
                <a:lnTo>
                  <a:pt x="4888041" y="0"/>
                </a:lnTo>
                <a:lnTo>
                  <a:pt x="4888041"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10800000">
            <a:off x="7782688" y="9337492"/>
            <a:ext cx="4888040" cy="1015888"/>
          </a:xfrm>
          <a:custGeom>
            <a:avLst/>
            <a:gdLst/>
            <a:ahLst/>
            <a:cxnLst/>
            <a:rect r="r" b="b" t="t" l="l"/>
            <a:pathLst>
              <a:path h="1015888" w="4888040">
                <a:moveTo>
                  <a:pt x="0" y="0"/>
                </a:moveTo>
                <a:lnTo>
                  <a:pt x="4888040" y="0"/>
                </a:lnTo>
                <a:lnTo>
                  <a:pt x="4888040"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10800000">
            <a:off x="12689778" y="9338853"/>
            <a:ext cx="4888040" cy="1015888"/>
          </a:xfrm>
          <a:custGeom>
            <a:avLst/>
            <a:gdLst/>
            <a:ahLst/>
            <a:cxnLst/>
            <a:rect r="r" b="b" t="t" l="l"/>
            <a:pathLst>
              <a:path h="1015888" w="4888040">
                <a:moveTo>
                  <a:pt x="0" y="0"/>
                </a:moveTo>
                <a:lnTo>
                  <a:pt x="4888040" y="0"/>
                </a:lnTo>
                <a:lnTo>
                  <a:pt x="4888040" y="1015888"/>
                </a:lnTo>
                <a:lnTo>
                  <a:pt x="0" y="1015888"/>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grpSp>
        <p:nvGrpSpPr>
          <p:cNvPr name="Group 13" id="13"/>
          <p:cNvGrpSpPr/>
          <p:nvPr/>
        </p:nvGrpSpPr>
        <p:grpSpPr>
          <a:xfrm rot="0">
            <a:off x="2875597" y="9127948"/>
            <a:ext cx="15731854" cy="1880081"/>
            <a:chOff x="0" y="0"/>
            <a:chExt cx="4143369" cy="495165"/>
          </a:xfrm>
        </p:grpSpPr>
        <p:sp>
          <p:nvSpPr>
            <p:cNvPr name="Freeform 14" id="14"/>
            <p:cNvSpPr/>
            <p:nvPr/>
          </p:nvSpPr>
          <p:spPr>
            <a:xfrm flipH="false" flipV="false" rot="0">
              <a:off x="0" y="0"/>
              <a:ext cx="4143369" cy="495165"/>
            </a:xfrm>
            <a:custGeom>
              <a:avLst/>
              <a:gdLst/>
              <a:ahLst/>
              <a:cxnLst/>
              <a:rect r="r" b="b" t="t" l="l"/>
              <a:pathLst>
                <a:path h="495165" w="4143369">
                  <a:moveTo>
                    <a:pt x="0" y="0"/>
                  </a:moveTo>
                  <a:lnTo>
                    <a:pt x="4143369" y="0"/>
                  </a:lnTo>
                  <a:lnTo>
                    <a:pt x="4143369" y="495165"/>
                  </a:lnTo>
                  <a:lnTo>
                    <a:pt x="0" y="495165"/>
                  </a:lnTo>
                  <a:close/>
                </a:path>
              </a:pathLst>
            </a:custGeom>
            <a:gradFill rotWithShape="true">
              <a:gsLst>
                <a:gs pos="0">
                  <a:srgbClr val="FFFFFF">
                    <a:alpha val="100000"/>
                  </a:srgbClr>
                </a:gs>
                <a:gs pos="33333">
                  <a:srgbClr val="FFFFFF">
                    <a:alpha val="71000"/>
                  </a:srgbClr>
                </a:gs>
                <a:gs pos="66667">
                  <a:srgbClr val="FFFFFF">
                    <a:alpha val="54000"/>
                  </a:srgbClr>
                </a:gs>
                <a:gs pos="100000">
                  <a:srgbClr val="FFFFFF">
                    <a:alpha val="21500"/>
                  </a:srgbClr>
                </a:gs>
              </a:gsLst>
              <a:lin ang="5400000"/>
            </a:gradFill>
          </p:spPr>
        </p:sp>
        <p:sp>
          <p:nvSpPr>
            <p:cNvPr name="TextBox 15" id="15"/>
            <p:cNvSpPr txBox="true"/>
            <p:nvPr/>
          </p:nvSpPr>
          <p:spPr>
            <a:xfrm>
              <a:off x="0" y="-38100"/>
              <a:ext cx="4143369" cy="533265"/>
            </a:xfrm>
            <a:prstGeom prst="rect">
              <a:avLst/>
            </a:prstGeom>
          </p:spPr>
          <p:txBody>
            <a:bodyPr anchor="ctr" rtlCol="false" tIns="50800" lIns="50800" bIns="50800" rIns="50800"/>
            <a:lstStyle/>
            <a:p>
              <a:pPr algn="ctr">
                <a:lnSpc>
                  <a:spcPts val="2078"/>
                </a:lnSpc>
              </a:pPr>
            </a:p>
          </p:txBody>
        </p:sp>
      </p:grpSp>
      <p:sp>
        <p:nvSpPr>
          <p:cNvPr name="Freeform 16" id="16"/>
          <p:cNvSpPr/>
          <p:nvPr/>
        </p:nvSpPr>
        <p:spPr>
          <a:xfrm flipH="false" flipV="false" rot="-10800000">
            <a:off x="10116522" y="9222171"/>
            <a:ext cx="9281250" cy="4640625"/>
          </a:xfrm>
          <a:custGeom>
            <a:avLst/>
            <a:gdLst/>
            <a:ahLst/>
            <a:cxnLst/>
            <a:rect r="r" b="b" t="t" l="l"/>
            <a:pathLst>
              <a:path h="4640625" w="9281250">
                <a:moveTo>
                  <a:pt x="0" y="0"/>
                </a:moveTo>
                <a:lnTo>
                  <a:pt x="9281250" y="0"/>
                </a:lnTo>
                <a:lnTo>
                  <a:pt x="9281250" y="4640625"/>
                </a:lnTo>
                <a:lnTo>
                  <a:pt x="0" y="46406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false" rot="-10800000">
            <a:off x="971550" y="-3324521"/>
            <a:ext cx="7334017" cy="3667009"/>
          </a:xfrm>
          <a:custGeom>
            <a:avLst/>
            <a:gdLst/>
            <a:ahLst/>
            <a:cxnLst/>
            <a:rect r="r" b="b" t="t" l="l"/>
            <a:pathLst>
              <a:path h="3667009" w="7334017">
                <a:moveTo>
                  <a:pt x="7334017" y="0"/>
                </a:moveTo>
                <a:lnTo>
                  <a:pt x="0" y="0"/>
                </a:lnTo>
                <a:lnTo>
                  <a:pt x="0" y="3667009"/>
                </a:lnTo>
                <a:lnTo>
                  <a:pt x="7334017" y="3667009"/>
                </a:lnTo>
                <a:lnTo>
                  <a:pt x="7334017"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8" id="18"/>
          <p:cNvGrpSpPr/>
          <p:nvPr/>
        </p:nvGrpSpPr>
        <p:grpSpPr>
          <a:xfrm rot="-10800000">
            <a:off x="8268687" y="-342488"/>
            <a:ext cx="10923063" cy="684975"/>
            <a:chOff x="0" y="0"/>
            <a:chExt cx="2891335" cy="181313"/>
          </a:xfrm>
        </p:grpSpPr>
        <p:sp>
          <p:nvSpPr>
            <p:cNvPr name="Freeform 19" id="19"/>
            <p:cNvSpPr/>
            <p:nvPr/>
          </p:nvSpPr>
          <p:spPr>
            <a:xfrm flipH="false" flipV="false" rot="0">
              <a:off x="0" y="0"/>
              <a:ext cx="2891335" cy="181313"/>
            </a:xfrm>
            <a:custGeom>
              <a:avLst/>
              <a:gdLst/>
              <a:ahLst/>
              <a:cxnLst/>
              <a:rect r="r" b="b" t="t" l="l"/>
              <a:pathLst>
                <a:path h="181313" w="2891335">
                  <a:moveTo>
                    <a:pt x="0" y="0"/>
                  </a:moveTo>
                  <a:lnTo>
                    <a:pt x="2891335" y="0"/>
                  </a:lnTo>
                  <a:lnTo>
                    <a:pt x="2891335" y="181313"/>
                  </a:lnTo>
                  <a:lnTo>
                    <a:pt x="0" y="181313"/>
                  </a:lnTo>
                  <a:close/>
                </a:path>
              </a:pathLst>
            </a:custGeom>
            <a:solidFill>
              <a:srgbClr val="04223C"/>
            </a:solidFill>
          </p:spPr>
        </p:sp>
        <p:sp>
          <p:nvSpPr>
            <p:cNvPr name="TextBox 20" id="20"/>
            <p:cNvSpPr txBox="true"/>
            <p:nvPr/>
          </p:nvSpPr>
          <p:spPr>
            <a:xfrm>
              <a:off x="0" y="-38100"/>
              <a:ext cx="2891335" cy="219413"/>
            </a:xfrm>
            <a:prstGeom prst="rect">
              <a:avLst/>
            </a:prstGeom>
          </p:spPr>
          <p:txBody>
            <a:bodyPr anchor="ctr" rtlCol="false" tIns="48876" lIns="48876" bIns="48876" rIns="48876"/>
            <a:lstStyle/>
            <a:p>
              <a:pPr algn="ctr">
                <a:lnSpc>
                  <a:spcPts val="2078"/>
                </a:lnSpc>
              </a:pPr>
            </a:p>
          </p:txBody>
        </p:sp>
      </p:grpSp>
      <p:sp>
        <p:nvSpPr>
          <p:cNvPr name="Freeform 21" id="21"/>
          <p:cNvSpPr/>
          <p:nvPr/>
        </p:nvSpPr>
        <p:spPr>
          <a:xfrm flipH="false" flipV="false" rot="0">
            <a:off x="4197000" y="3039109"/>
            <a:ext cx="546634" cy="556266"/>
          </a:xfrm>
          <a:custGeom>
            <a:avLst/>
            <a:gdLst/>
            <a:ahLst/>
            <a:cxnLst/>
            <a:rect r="r" b="b" t="t" l="l"/>
            <a:pathLst>
              <a:path h="556266" w="546634">
                <a:moveTo>
                  <a:pt x="0" y="0"/>
                </a:moveTo>
                <a:lnTo>
                  <a:pt x="546634" y="0"/>
                </a:lnTo>
                <a:lnTo>
                  <a:pt x="546634" y="556267"/>
                </a:lnTo>
                <a:lnTo>
                  <a:pt x="0" y="55626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2" id="22"/>
          <p:cNvSpPr txBox="true"/>
          <p:nvPr/>
        </p:nvSpPr>
        <p:spPr>
          <a:xfrm rot="0">
            <a:off x="4091925" y="1224570"/>
            <a:ext cx="11425142" cy="1152525"/>
          </a:xfrm>
          <a:prstGeom prst="rect">
            <a:avLst/>
          </a:prstGeom>
        </p:spPr>
        <p:txBody>
          <a:bodyPr anchor="t" rtlCol="false" tIns="0" lIns="0" bIns="0" rIns="0">
            <a:spAutoFit/>
          </a:bodyPr>
          <a:lstStyle/>
          <a:p>
            <a:pPr algn="l">
              <a:lnSpc>
                <a:spcPts val="9150"/>
              </a:lnSpc>
            </a:pPr>
            <a:r>
              <a:rPr lang="en-US" sz="7500" b="true">
                <a:solidFill>
                  <a:srgbClr val="40A8CD"/>
                </a:solidFill>
                <a:latin typeface="Nourd Bold"/>
                <a:ea typeface="Nourd Bold"/>
                <a:cs typeface="Nourd Bold"/>
                <a:sym typeface="Nourd Bold"/>
              </a:rPr>
              <a:t>Recommendations</a:t>
            </a:r>
          </a:p>
        </p:txBody>
      </p:sp>
      <p:sp>
        <p:nvSpPr>
          <p:cNvPr name="TextBox 23" id="23"/>
          <p:cNvSpPr txBox="true"/>
          <p:nvPr/>
        </p:nvSpPr>
        <p:spPr>
          <a:xfrm rot="0">
            <a:off x="8918605" y="9545467"/>
            <a:ext cx="8822879" cy="422275"/>
          </a:xfrm>
          <a:prstGeom prst="rect">
            <a:avLst/>
          </a:prstGeom>
        </p:spPr>
        <p:txBody>
          <a:bodyPr anchor="t" rtlCol="false" tIns="0" lIns="0" bIns="0" rIns="0">
            <a:spAutoFit/>
          </a:bodyPr>
          <a:lstStyle/>
          <a:p>
            <a:pPr algn="r">
              <a:lnSpc>
                <a:spcPts val="3499"/>
              </a:lnSpc>
            </a:pPr>
            <a:r>
              <a:rPr lang="en-US" sz="2499">
                <a:solidFill>
                  <a:srgbClr val="4E4E4E"/>
                </a:solidFill>
                <a:latin typeface="Nourd"/>
                <a:ea typeface="Nourd"/>
                <a:cs typeface="Nourd"/>
                <a:sym typeface="Nourd"/>
              </a:rPr>
              <a:t>Universitas Fauget | 2025</a:t>
            </a:r>
          </a:p>
        </p:txBody>
      </p:sp>
      <p:sp>
        <p:nvSpPr>
          <p:cNvPr name="TextBox 24" id="24"/>
          <p:cNvSpPr txBox="true"/>
          <p:nvPr/>
        </p:nvSpPr>
        <p:spPr>
          <a:xfrm rot="0">
            <a:off x="5159585" y="2845140"/>
            <a:ext cx="12418233" cy="1298575"/>
          </a:xfrm>
          <a:prstGeom prst="rect">
            <a:avLst/>
          </a:prstGeom>
        </p:spPr>
        <p:txBody>
          <a:bodyPr anchor="t" rtlCol="false" tIns="0" lIns="0" bIns="0" rIns="0">
            <a:spAutoFit/>
          </a:bodyPr>
          <a:lstStyle/>
          <a:p>
            <a:pPr algn="just">
              <a:lnSpc>
                <a:spcPts val="3499"/>
              </a:lnSpc>
            </a:pPr>
            <a:r>
              <a:rPr lang="en-US" sz="2499">
                <a:solidFill>
                  <a:srgbClr val="04223C"/>
                </a:solidFill>
                <a:latin typeface="Nourd"/>
                <a:ea typeface="Nourd"/>
                <a:cs typeface="Nourd"/>
                <a:sym typeface="Nourd"/>
              </a:rPr>
              <a:t>Evaluate other encryption algorithms, such as ChaCha20 or the Tiny Encryption Algorithm (TEA), to compare their ability to evade detection and their efficiency in terms of execution time.</a:t>
            </a:r>
          </a:p>
        </p:txBody>
      </p:sp>
      <p:sp>
        <p:nvSpPr>
          <p:cNvPr name="TextBox 25" id="25"/>
          <p:cNvSpPr txBox="true"/>
          <p:nvPr/>
        </p:nvSpPr>
        <p:spPr>
          <a:xfrm rot="0">
            <a:off x="5159585" y="5190348"/>
            <a:ext cx="12418233" cy="860425"/>
          </a:xfrm>
          <a:prstGeom prst="rect">
            <a:avLst/>
          </a:prstGeom>
        </p:spPr>
        <p:txBody>
          <a:bodyPr anchor="t" rtlCol="false" tIns="0" lIns="0" bIns="0" rIns="0">
            <a:spAutoFit/>
          </a:bodyPr>
          <a:lstStyle/>
          <a:p>
            <a:pPr algn="just">
              <a:lnSpc>
                <a:spcPts val="3499"/>
              </a:lnSpc>
            </a:pPr>
            <a:r>
              <a:rPr lang="en-US" sz="2499">
                <a:solidFill>
                  <a:srgbClr val="04223C"/>
                </a:solidFill>
                <a:latin typeface="Nourd"/>
                <a:ea typeface="Nourd"/>
                <a:cs typeface="Nourd"/>
                <a:sym typeface="Nourd"/>
              </a:rPr>
              <a:t>Investigate alternative file access methods, such as asynchronous I/O, to see whether they can improve the performance of the encryption process.</a:t>
            </a:r>
          </a:p>
        </p:txBody>
      </p:sp>
      <p:sp>
        <p:nvSpPr>
          <p:cNvPr name="TextBox 26" id="26"/>
          <p:cNvSpPr txBox="true"/>
          <p:nvPr/>
        </p:nvSpPr>
        <p:spPr>
          <a:xfrm rot="0">
            <a:off x="5159585" y="7535557"/>
            <a:ext cx="12418233" cy="860425"/>
          </a:xfrm>
          <a:prstGeom prst="rect">
            <a:avLst/>
          </a:prstGeom>
        </p:spPr>
        <p:txBody>
          <a:bodyPr anchor="t" rtlCol="false" tIns="0" lIns="0" bIns="0" rIns="0">
            <a:spAutoFit/>
          </a:bodyPr>
          <a:lstStyle/>
          <a:p>
            <a:pPr algn="just">
              <a:lnSpc>
                <a:spcPts val="3499"/>
              </a:lnSpc>
            </a:pPr>
            <a:r>
              <a:rPr lang="en-US" sz="2499">
                <a:solidFill>
                  <a:srgbClr val="04223C"/>
                </a:solidFill>
                <a:latin typeface="Nourd"/>
                <a:ea typeface="Nourd"/>
                <a:cs typeface="Nourd"/>
                <a:sym typeface="Nourd"/>
              </a:rPr>
              <a:t>Replicate the experiments on hardware with limited resources to assess how antivirus programs perform in lower-capacity system environments.</a:t>
            </a:r>
          </a:p>
        </p:txBody>
      </p:sp>
      <p:sp>
        <p:nvSpPr>
          <p:cNvPr name="Freeform 27" id="27"/>
          <p:cNvSpPr/>
          <p:nvPr/>
        </p:nvSpPr>
        <p:spPr>
          <a:xfrm flipH="false" flipV="false" rot="0">
            <a:off x="4197000" y="5348162"/>
            <a:ext cx="546634" cy="556266"/>
          </a:xfrm>
          <a:custGeom>
            <a:avLst/>
            <a:gdLst/>
            <a:ahLst/>
            <a:cxnLst/>
            <a:rect r="r" b="b" t="t" l="l"/>
            <a:pathLst>
              <a:path h="556266" w="546634">
                <a:moveTo>
                  <a:pt x="0" y="0"/>
                </a:moveTo>
                <a:lnTo>
                  <a:pt x="546634" y="0"/>
                </a:lnTo>
                <a:lnTo>
                  <a:pt x="546634" y="556267"/>
                </a:lnTo>
                <a:lnTo>
                  <a:pt x="0" y="55626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8" id="28"/>
          <p:cNvSpPr/>
          <p:nvPr/>
        </p:nvSpPr>
        <p:spPr>
          <a:xfrm flipH="false" flipV="false" rot="0">
            <a:off x="4197000" y="7725913"/>
            <a:ext cx="546634" cy="556266"/>
          </a:xfrm>
          <a:custGeom>
            <a:avLst/>
            <a:gdLst/>
            <a:ahLst/>
            <a:cxnLst/>
            <a:rect r="r" b="b" t="t" l="l"/>
            <a:pathLst>
              <a:path h="556266" w="546634">
                <a:moveTo>
                  <a:pt x="0" y="0"/>
                </a:moveTo>
                <a:lnTo>
                  <a:pt x="546634" y="0"/>
                </a:lnTo>
                <a:lnTo>
                  <a:pt x="546634" y="556266"/>
                </a:lnTo>
                <a:lnTo>
                  <a:pt x="0" y="55626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12899298" y="3525547"/>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2899298" y="691905"/>
            <a:ext cx="8410133" cy="4205067"/>
          </a:xfrm>
          <a:custGeom>
            <a:avLst/>
            <a:gdLst/>
            <a:ahLst/>
            <a:cxnLst/>
            <a:rect r="r" b="b" t="t" l="l"/>
            <a:pathLst>
              <a:path h="4205067" w="8410133">
                <a:moveTo>
                  <a:pt x="0" y="0"/>
                </a:moveTo>
                <a:lnTo>
                  <a:pt x="8410133" y="0"/>
                </a:lnTo>
                <a:lnTo>
                  <a:pt x="8410133" y="4205066"/>
                </a:lnTo>
                <a:lnTo>
                  <a:pt x="0" y="42050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3207383" y="3257544"/>
            <a:ext cx="8410133" cy="4205067"/>
          </a:xfrm>
          <a:custGeom>
            <a:avLst/>
            <a:gdLst/>
            <a:ahLst/>
            <a:cxnLst/>
            <a:rect r="r" b="b" t="t" l="l"/>
            <a:pathLst>
              <a:path h="4205067" w="8410133">
                <a:moveTo>
                  <a:pt x="0" y="0"/>
                </a:moveTo>
                <a:lnTo>
                  <a:pt x="8410133" y="0"/>
                </a:lnTo>
                <a:lnTo>
                  <a:pt x="8410133" y="4205066"/>
                </a:lnTo>
                <a:lnTo>
                  <a:pt x="0" y="42050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5400000">
            <a:off x="13207383" y="423901"/>
            <a:ext cx="8410133" cy="4205067"/>
          </a:xfrm>
          <a:custGeom>
            <a:avLst/>
            <a:gdLst/>
            <a:ahLst/>
            <a:cxnLst/>
            <a:rect r="r" b="b" t="t" l="l"/>
            <a:pathLst>
              <a:path h="4205067" w="8410133">
                <a:moveTo>
                  <a:pt x="0" y="0"/>
                </a:moveTo>
                <a:lnTo>
                  <a:pt x="8410133" y="0"/>
                </a:lnTo>
                <a:lnTo>
                  <a:pt x="8410133" y="4205067"/>
                </a:lnTo>
                <a:lnTo>
                  <a:pt x="0" y="42050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6286586" y="6781806"/>
            <a:ext cx="1883948" cy="1883948"/>
          </a:xfrm>
          <a:custGeom>
            <a:avLst/>
            <a:gdLst/>
            <a:ahLst/>
            <a:cxnLst/>
            <a:rect r="r" b="b" t="t" l="l"/>
            <a:pathLst>
              <a:path h="1883948" w="1883948">
                <a:moveTo>
                  <a:pt x="0" y="0"/>
                </a:moveTo>
                <a:lnTo>
                  <a:pt x="1883948" y="0"/>
                </a:lnTo>
                <a:lnTo>
                  <a:pt x="1883948" y="1883948"/>
                </a:lnTo>
                <a:lnTo>
                  <a:pt x="0" y="188394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5400000">
            <a:off x="14916506" y="7463077"/>
            <a:ext cx="1202677" cy="1202677"/>
          </a:xfrm>
          <a:custGeom>
            <a:avLst/>
            <a:gdLst/>
            <a:ahLst/>
            <a:cxnLst/>
            <a:rect r="r" b="b" t="t" l="l"/>
            <a:pathLst>
              <a:path h="1202677" w="1202677">
                <a:moveTo>
                  <a:pt x="0" y="0"/>
                </a:moveTo>
                <a:lnTo>
                  <a:pt x="1202677" y="0"/>
                </a:lnTo>
                <a:lnTo>
                  <a:pt x="1202677" y="1202677"/>
                </a:lnTo>
                <a:lnTo>
                  <a:pt x="0" y="12026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4982020" y="8782634"/>
            <a:ext cx="1168661" cy="1168661"/>
          </a:xfrm>
          <a:custGeom>
            <a:avLst/>
            <a:gdLst/>
            <a:ahLst/>
            <a:cxnLst/>
            <a:rect r="r" b="b" t="t" l="l"/>
            <a:pathLst>
              <a:path h="1168661" w="1168661">
                <a:moveTo>
                  <a:pt x="0" y="0"/>
                </a:moveTo>
                <a:lnTo>
                  <a:pt x="1168660" y="0"/>
                </a:lnTo>
                <a:lnTo>
                  <a:pt x="1168660" y="1168660"/>
                </a:lnTo>
                <a:lnTo>
                  <a:pt x="0" y="11686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5305806">
            <a:off x="16260396" y="8808116"/>
            <a:ext cx="1886072" cy="1886072"/>
          </a:xfrm>
          <a:custGeom>
            <a:avLst/>
            <a:gdLst/>
            <a:ahLst/>
            <a:cxnLst/>
            <a:rect r="r" b="b" t="t" l="l"/>
            <a:pathLst>
              <a:path h="1886072" w="1886072">
                <a:moveTo>
                  <a:pt x="0" y="0"/>
                </a:moveTo>
                <a:lnTo>
                  <a:pt x="1886072" y="0"/>
                </a:lnTo>
                <a:lnTo>
                  <a:pt x="1886072" y="1886071"/>
                </a:lnTo>
                <a:lnTo>
                  <a:pt x="0" y="188607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true" flipV="false" rot="0">
            <a:off x="9304461" y="9833148"/>
            <a:ext cx="7334017" cy="3667009"/>
          </a:xfrm>
          <a:custGeom>
            <a:avLst/>
            <a:gdLst/>
            <a:ahLst/>
            <a:cxnLst/>
            <a:rect r="r" b="b" t="t" l="l"/>
            <a:pathLst>
              <a:path h="3667009" w="7334017">
                <a:moveTo>
                  <a:pt x="7334017" y="0"/>
                </a:moveTo>
                <a:lnTo>
                  <a:pt x="0" y="0"/>
                </a:lnTo>
                <a:lnTo>
                  <a:pt x="0" y="3667008"/>
                </a:lnTo>
                <a:lnTo>
                  <a:pt x="7334017" y="3667008"/>
                </a:lnTo>
                <a:lnTo>
                  <a:pt x="733401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5400000">
            <a:off x="-4093503" y="3864916"/>
            <a:ext cx="9882557" cy="2053905"/>
          </a:xfrm>
          <a:custGeom>
            <a:avLst/>
            <a:gdLst/>
            <a:ahLst/>
            <a:cxnLst/>
            <a:rect r="r" b="b" t="t" l="l"/>
            <a:pathLst>
              <a:path h="2053905" w="9882557">
                <a:moveTo>
                  <a:pt x="0" y="0"/>
                </a:moveTo>
                <a:lnTo>
                  <a:pt x="9882557" y="0"/>
                </a:lnTo>
                <a:lnTo>
                  <a:pt x="9882557" y="2053905"/>
                </a:lnTo>
                <a:lnTo>
                  <a:pt x="0" y="2053905"/>
                </a:lnTo>
                <a:lnTo>
                  <a:pt x="0" y="0"/>
                </a:lnTo>
                <a:close/>
              </a:path>
            </a:pathLst>
          </a:custGeom>
          <a:blipFill>
            <a:blip r:embed="rId12">
              <a:alphaModFix amt="24000"/>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10800000">
            <a:off x="-7844165" y="-233439"/>
            <a:ext cx="10520439" cy="10520439"/>
          </a:xfrm>
          <a:custGeom>
            <a:avLst/>
            <a:gdLst/>
            <a:ahLst/>
            <a:cxnLst/>
            <a:rect r="r" b="b" t="t" l="l"/>
            <a:pathLst>
              <a:path h="10520439" w="10520439">
                <a:moveTo>
                  <a:pt x="0" y="0"/>
                </a:moveTo>
                <a:lnTo>
                  <a:pt x="10520440" y="0"/>
                </a:lnTo>
                <a:lnTo>
                  <a:pt x="10520440" y="10520439"/>
                </a:lnTo>
                <a:lnTo>
                  <a:pt x="0" y="1052043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3" id="13"/>
          <p:cNvGrpSpPr/>
          <p:nvPr/>
        </p:nvGrpSpPr>
        <p:grpSpPr>
          <a:xfrm rot="0">
            <a:off x="-1581722" y="9833148"/>
            <a:ext cx="10923063" cy="684975"/>
            <a:chOff x="0" y="0"/>
            <a:chExt cx="2891335" cy="181313"/>
          </a:xfrm>
        </p:grpSpPr>
        <p:sp>
          <p:nvSpPr>
            <p:cNvPr name="Freeform 14" id="14"/>
            <p:cNvSpPr/>
            <p:nvPr/>
          </p:nvSpPr>
          <p:spPr>
            <a:xfrm flipH="false" flipV="false" rot="0">
              <a:off x="0" y="0"/>
              <a:ext cx="2891335" cy="181313"/>
            </a:xfrm>
            <a:custGeom>
              <a:avLst/>
              <a:gdLst/>
              <a:ahLst/>
              <a:cxnLst/>
              <a:rect r="r" b="b" t="t" l="l"/>
              <a:pathLst>
                <a:path h="181313" w="2891335">
                  <a:moveTo>
                    <a:pt x="0" y="0"/>
                  </a:moveTo>
                  <a:lnTo>
                    <a:pt x="2891335" y="0"/>
                  </a:lnTo>
                  <a:lnTo>
                    <a:pt x="2891335" y="181313"/>
                  </a:lnTo>
                  <a:lnTo>
                    <a:pt x="0" y="181313"/>
                  </a:lnTo>
                  <a:close/>
                </a:path>
              </a:pathLst>
            </a:custGeom>
            <a:solidFill>
              <a:srgbClr val="04223C"/>
            </a:solidFill>
          </p:spPr>
        </p:sp>
        <p:sp>
          <p:nvSpPr>
            <p:cNvPr name="TextBox 15" id="15"/>
            <p:cNvSpPr txBox="true"/>
            <p:nvPr/>
          </p:nvSpPr>
          <p:spPr>
            <a:xfrm>
              <a:off x="0" y="-38100"/>
              <a:ext cx="2891335" cy="219413"/>
            </a:xfrm>
            <a:prstGeom prst="rect">
              <a:avLst/>
            </a:prstGeom>
          </p:spPr>
          <p:txBody>
            <a:bodyPr anchor="ctr" rtlCol="false" tIns="48876" lIns="48876" bIns="48876" rIns="48876"/>
            <a:lstStyle/>
            <a:p>
              <a:pPr algn="ctr">
                <a:lnSpc>
                  <a:spcPts val="2078"/>
                </a:lnSpc>
              </a:pPr>
            </a:p>
          </p:txBody>
        </p:sp>
      </p:grpSp>
      <p:sp>
        <p:nvSpPr>
          <p:cNvPr name="TextBox 16" id="16"/>
          <p:cNvSpPr txBox="true"/>
          <p:nvPr/>
        </p:nvSpPr>
        <p:spPr>
          <a:xfrm rot="0">
            <a:off x="2170953" y="3633934"/>
            <a:ext cx="11425142" cy="1808447"/>
          </a:xfrm>
          <a:prstGeom prst="rect">
            <a:avLst/>
          </a:prstGeom>
        </p:spPr>
        <p:txBody>
          <a:bodyPr anchor="t" rtlCol="false" tIns="0" lIns="0" bIns="0" rIns="0">
            <a:spAutoFit/>
          </a:bodyPr>
          <a:lstStyle/>
          <a:p>
            <a:pPr algn="l">
              <a:lnSpc>
                <a:spcPts val="14350"/>
              </a:lnSpc>
            </a:pPr>
            <a:r>
              <a:rPr lang="en-US" sz="11763" b="true">
                <a:solidFill>
                  <a:srgbClr val="40A8CD"/>
                </a:solidFill>
                <a:latin typeface="Nourd Bold"/>
                <a:ea typeface="Nourd Bold"/>
                <a:cs typeface="Nourd Bold"/>
                <a:sym typeface="Nourd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DAG2bwKXY2k</dc:identifier>
  <dcterms:modified xsi:type="dcterms:W3CDTF">2011-08-01T06:04:30Z</dcterms:modified>
  <cp:revision>1</cp:revision>
  <dc:title>Biru Kuning Modern Geometris Sidang Skripsi Presentasi</dc:title>
</cp:coreProperties>
</file>